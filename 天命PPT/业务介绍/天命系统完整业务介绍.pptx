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9" Type="http://schemas.openxmlformats.org/officeDocument/2006/relationships/tableStyles" Target="tableStyles.xml"/><Relationship Id="rId218" Type="http://schemas.openxmlformats.org/officeDocument/2006/relationships/viewProps" Target="viewProps.xml"/><Relationship Id="rId217" Type="http://schemas.openxmlformats.org/officeDocument/2006/relationships/presProps" Target="presProps.xml"/><Relationship Id="rId216" Type="http://schemas.openxmlformats.org/officeDocument/2006/relationships/slide" Target="slides/slide213.xml"/><Relationship Id="rId215" Type="http://schemas.openxmlformats.org/officeDocument/2006/relationships/slide" Target="slides/slide212.xml"/><Relationship Id="rId214" Type="http://schemas.openxmlformats.org/officeDocument/2006/relationships/slide" Target="slides/slide211.xml"/><Relationship Id="rId213" Type="http://schemas.openxmlformats.org/officeDocument/2006/relationships/slide" Target="slides/slide210.xml"/><Relationship Id="rId212" Type="http://schemas.openxmlformats.org/officeDocument/2006/relationships/slide" Target="slides/slide209.xml"/><Relationship Id="rId211" Type="http://schemas.openxmlformats.org/officeDocument/2006/relationships/slide" Target="slides/slide208.xml"/><Relationship Id="rId210" Type="http://schemas.openxmlformats.org/officeDocument/2006/relationships/slide" Target="slides/slide207.xml"/><Relationship Id="rId21" Type="http://schemas.openxmlformats.org/officeDocument/2006/relationships/slide" Target="slides/slide18.xml"/><Relationship Id="rId209" Type="http://schemas.openxmlformats.org/officeDocument/2006/relationships/slide" Target="slides/slide206.xml"/><Relationship Id="rId208" Type="http://schemas.openxmlformats.org/officeDocument/2006/relationships/slide" Target="slides/slide205.xml"/><Relationship Id="rId207" Type="http://schemas.openxmlformats.org/officeDocument/2006/relationships/slide" Target="slides/slide204.xml"/><Relationship Id="rId206" Type="http://schemas.openxmlformats.org/officeDocument/2006/relationships/slide" Target="slides/slide203.xml"/><Relationship Id="rId205" Type="http://schemas.openxmlformats.org/officeDocument/2006/relationships/slide" Target="slides/slide202.xml"/><Relationship Id="rId204" Type="http://schemas.openxmlformats.org/officeDocument/2006/relationships/slide" Target="slides/slide201.xml"/><Relationship Id="rId203" Type="http://schemas.openxmlformats.org/officeDocument/2006/relationships/slide" Target="slides/slide200.xml"/><Relationship Id="rId202" Type="http://schemas.openxmlformats.org/officeDocument/2006/relationships/slide" Target="slides/slide199.xml"/><Relationship Id="rId201" Type="http://schemas.openxmlformats.org/officeDocument/2006/relationships/slide" Target="slides/slide198.xml"/><Relationship Id="rId200" Type="http://schemas.openxmlformats.org/officeDocument/2006/relationships/slide" Target="slides/slide197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9" Type="http://schemas.openxmlformats.org/officeDocument/2006/relationships/slide" Target="slides/slide196.xml"/><Relationship Id="rId198" Type="http://schemas.openxmlformats.org/officeDocument/2006/relationships/slide" Target="slides/slide195.xml"/><Relationship Id="rId197" Type="http://schemas.openxmlformats.org/officeDocument/2006/relationships/slide" Target="slides/slide194.xml"/><Relationship Id="rId196" Type="http://schemas.openxmlformats.org/officeDocument/2006/relationships/slide" Target="slides/slide193.xml"/><Relationship Id="rId195" Type="http://schemas.openxmlformats.org/officeDocument/2006/relationships/slide" Target="slides/slide192.xml"/><Relationship Id="rId194" Type="http://schemas.openxmlformats.org/officeDocument/2006/relationships/slide" Target="slides/slide191.xml"/><Relationship Id="rId193" Type="http://schemas.openxmlformats.org/officeDocument/2006/relationships/slide" Target="slides/slide190.xml"/><Relationship Id="rId192" Type="http://schemas.openxmlformats.org/officeDocument/2006/relationships/slide" Target="slides/slide189.xml"/><Relationship Id="rId191" Type="http://schemas.openxmlformats.org/officeDocument/2006/relationships/slide" Target="slides/slide188.xml"/><Relationship Id="rId190" Type="http://schemas.openxmlformats.org/officeDocument/2006/relationships/slide" Target="slides/slide187.xml"/><Relationship Id="rId19" Type="http://schemas.openxmlformats.org/officeDocument/2006/relationships/slide" Target="slides/slide16.xml"/><Relationship Id="rId189" Type="http://schemas.openxmlformats.org/officeDocument/2006/relationships/slide" Target="slides/slide186.xml"/><Relationship Id="rId188" Type="http://schemas.openxmlformats.org/officeDocument/2006/relationships/slide" Target="slides/slide185.xml"/><Relationship Id="rId187" Type="http://schemas.openxmlformats.org/officeDocument/2006/relationships/slide" Target="slides/slide184.xml"/><Relationship Id="rId186" Type="http://schemas.openxmlformats.org/officeDocument/2006/relationships/slide" Target="slides/slide183.xml"/><Relationship Id="rId185" Type="http://schemas.openxmlformats.org/officeDocument/2006/relationships/slide" Target="slides/slide182.xml"/><Relationship Id="rId184" Type="http://schemas.openxmlformats.org/officeDocument/2006/relationships/slide" Target="slides/slide181.xml"/><Relationship Id="rId183" Type="http://schemas.openxmlformats.org/officeDocument/2006/relationships/slide" Target="slides/slide180.xml"/><Relationship Id="rId182" Type="http://schemas.openxmlformats.org/officeDocument/2006/relationships/slide" Target="slides/slide179.xml"/><Relationship Id="rId181" Type="http://schemas.openxmlformats.org/officeDocument/2006/relationships/slide" Target="slides/slide178.xml"/><Relationship Id="rId180" Type="http://schemas.openxmlformats.org/officeDocument/2006/relationships/slide" Target="slides/slide177.xml"/><Relationship Id="rId18" Type="http://schemas.openxmlformats.org/officeDocument/2006/relationships/slide" Target="slides/slide15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4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3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7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8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7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8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9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0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2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3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4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5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6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7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8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9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0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2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3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4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5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6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7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8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9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0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2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3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4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5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6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7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8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9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0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2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天命系统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完整业务介绍 · 全册手册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772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界面 · 智助 · 设计 · 创作 · 校验 · 设置 · FAQ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54864" cy="32918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54864" cy="329184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8" name="Text 6"/>
          <p:cNvSpPr/>
          <p:nvPr/>
        </p:nvSpPr>
        <p:spPr>
          <a:xfrm>
            <a:off x="640080" y="2093976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093976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54864" cy="329184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11" name="Text 9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770632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864" cy="329184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14" name="Text 12"/>
          <p:cNvSpPr/>
          <p:nvPr/>
        </p:nvSpPr>
        <p:spPr>
          <a:xfrm>
            <a:off x="640080" y="3447288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E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447288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4864" cy="329184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17" name="Text 15"/>
          <p:cNvSpPr/>
          <p:nvPr/>
        </p:nvSpPr>
        <p:spPr>
          <a:xfrm>
            <a:off x="640080" y="4123944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123944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54864" cy="329184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20" name="Text 18"/>
          <p:cNvSpPr/>
          <p:nvPr/>
        </p:nvSpPr>
        <p:spPr>
          <a:xfrm>
            <a:off x="640080" y="4800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480060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641848"/>
            <a:ext cx="54864" cy="329184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23" name="Text 21"/>
          <p:cNvSpPr/>
          <p:nvPr/>
        </p:nvSpPr>
        <p:spPr>
          <a:xfrm>
            <a:off x="640080" y="5477256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5477256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09360" y="1581912"/>
            <a:ext cx="54864" cy="329184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26" name="Text 24"/>
          <p:cNvSpPr/>
          <p:nvPr/>
        </p:nvSpPr>
        <p:spPr>
          <a:xfrm>
            <a:off x="6400800" y="14173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141732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09360" y="2258568"/>
            <a:ext cx="54864" cy="329184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29" name="Text 27"/>
          <p:cNvSpPr/>
          <p:nvPr/>
        </p:nvSpPr>
        <p:spPr>
          <a:xfrm>
            <a:off x="6400800" y="2093976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40880" y="2093976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2935224"/>
            <a:ext cx="54864" cy="329184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2" name="Text 30"/>
          <p:cNvSpPr/>
          <p:nvPr/>
        </p:nvSpPr>
        <p:spPr>
          <a:xfrm>
            <a:off x="6400800" y="27706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2770632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309360" y="3611880"/>
            <a:ext cx="54864" cy="329184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5" name="Text 33"/>
          <p:cNvSpPr/>
          <p:nvPr/>
        </p:nvSpPr>
        <p:spPr>
          <a:xfrm>
            <a:off x="6400800" y="3447288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40880" y="3447288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309360" y="4288536"/>
            <a:ext cx="54864" cy="329184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8" name="Text 36"/>
          <p:cNvSpPr/>
          <p:nvPr/>
        </p:nvSpPr>
        <p:spPr>
          <a:xfrm>
            <a:off x="6400800" y="4123944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40880" y="4123944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309360" y="4965192"/>
            <a:ext cx="54864" cy="329184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41" name="Text 39"/>
          <p:cNvSpPr/>
          <p:nvPr/>
        </p:nvSpPr>
        <p:spPr>
          <a:xfrm>
            <a:off x="6400800" y="4800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40880" y="480060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309360" y="5641848"/>
            <a:ext cx="54864" cy="329184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44" name="Text 42"/>
          <p:cNvSpPr/>
          <p:nvPr/>
        </p:nvSpPr>
        <p:spPr>
          <a:xfrm>
            <a:off x="6400800" y="5477256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040880" y="5477256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· 天命系统  ·  P.2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这份手册怎么用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62941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这份手册不是宣传页，也不是概览PPT，而是按真实业务入口编写的操作说明。快速开始只说明从零起盘的推荐路线；具体字段、按钮和陷阱请进入对应章节查看。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15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新用户优先按下面两条路线之一开始：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2494026"/>
          <a:ext cx="11277295" cy="16276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5425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路线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适合情况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顺序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常规完整路线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想逐步搭建长篇项目，便于人工控制质量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模型配置 → 智能拆书 → 素材库 → 世界观规则 → 角色规则 → 势力规则 → 位置规则 → 剧情规则 → 大纲设计 → 分卷设计 → 章节设计 → 蓝图设计 → 打包 → 预览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一键直出路线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想快速起盘，先让系统批量生成基础数据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模型配置 → 智能拆书 → 素材库 → 一键直出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94810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4267962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注意：修改设计数据或创作规划后，必须进入数据中心重新打包。只保存业务数据不等于创作台AI已经读取到最新内容。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（第一步：模型配置）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智助 → 模型集成 → 模型管理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必须完成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42290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创建或选择供应商分类。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填写API端点。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填写API密钥。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点击“测试API连接”。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自动获取或手动添加模型。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选中目标模型，确认状态为“已启用”并保存；也可通过左侧树的启用/禁用操作切换状态。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在“写作配置”中选择默认对话API、备用API或润色API。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操作效果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成功后，创作台AI对话区才能选择模型。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后续提示词测试、设计AI生成、一键直出、正文创作都会依赖已启用模型。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常见陷阱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489040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只填写端点和密钥，但没有测试连接，会导致无法获取模型。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模型创建后没有启用，创作台仍然看不到模型。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端点填错一段路径，会导致模型列表或Chat测试失败。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（第二步：智能拆书）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智能拆书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推荐顺序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有参考书时，先进入拆书分析。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使用在线获取或本地导入准备源书内容。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获取精华章或导入关键章节。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执行世界观、角色、剧情等分析。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保存并启用可作为后续素材来源的拆书记录。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操作效果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拆书分析为素材库提供参考来源。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后续素材生成可以借用参考书的类型、节奏、结构和卖点。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常见陷阱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489040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没有拆书记录时，素材库里的来源拆书下拉可能为空。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参考书只用于学习结构和风格，不应复制具体桥段。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（第三步：素材库）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模板管理 → 创意素材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推荐AI生成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42290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在左侧选择默认内置分类素材库。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选择来源拆书。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选择题材/类型。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按需要设置黄金三章。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填写小说简介和整体构思。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确认按钮显示为AI单次，点击AI单次并确认生成。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系统会在当前分类下生成一条创意素材数据，包含世界观素材、角色素材和剧情素材。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操作效果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素材库是后续规则生成的起点。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它不是最终规则，需要继续转化为世界观、角色、势力、位置和剧情规则。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世界观规则（第四步）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世界观规则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目标：把素材库里的世界设定、力量体系、规则边界、环境特点整理成可复用规则。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53654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在左侧选择默认内置分类世界观规则。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填写生成数量和单批数量后开始生成。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检查力量体系、硬规则、软规则、代价和历史逻辑。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只对不准确内容做手动修正。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角色规则（第五步）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角色规则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9312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目标：把主角、配角、反派和关键NPC整理成可追踪的人物规则。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9312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9040" y="253654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在左侧选择默认内置分类角色规则。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填写生成数量和单批数量后开始生成。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检查姓名、角色类型、身份、Want、Need、关系和能力限制。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只对重复、错误或不适合的角色做手动修正。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势力规则（第六步）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势力规则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目标：定义组织、阵营、权力结构、利益目标和冲突关系。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" y="480456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02828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在左侧选择默认内置分类势力规则。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填写生成数量和单批数量后开始生成。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检查势力目标、领袖、核心成员、盟友、敌人和中立竞争关系。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只对不准确引用或冲突关系做手动修正。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位置规则（第七步）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位置规则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9312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目标：定义关键地点、场景类型、空间关系和剧情用途。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9312" y="480456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89040" y="502828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在左侧选择默认内置分类位置规则。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填写生成数量和单批数量后开始生成。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检查位置类型、规模、环境、资源、危险禁忌和所属势力。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只对不准确地点或势力引用做手动修正。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剧情规则（第八步）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剧情规则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目标：定义主线事件、支线事件、伏笔、高潮、触发条件和影响结果。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53654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在左侧选择默认内置分类剧情规则。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先填写总卷数。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填写生成数量和单批数量后开始生成。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检查所属卷、事件类型、触发条件、参与方、冲突结果和事件影响。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只对重复、断因果或不符合主线的事件做手动修正。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大纲设计（第九步）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全书设定 → 大纲设计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9312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目标：确定全书总章节数、主题、核心冲突、结局状态和整体结构。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9312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9040" y="253654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在左侧选择默认内置分类故事大纲。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先填写总章节数。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确认按钮显示为AI单次，点击AI单次并确认生成。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系统会在当前分类下生成一条大纲数据。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检查一句话大纲、主题、核心冲突、结局状态、卷/幕划分和大纲总览。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只对不准确内容做手动修正。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分卷设计（第十步）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创作元素 → 分卷设计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目标：把全书拆成卷，明确每卷章节范围、主题、阶段目标和冲突。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" y="480456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02828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在左侧选择默认内置分类分卷规划。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确认大纲总章节数和剧情规则总卷数已填写。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系统自动计算分卷数量和每卷起止章节。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检查卷主题、阶段目标、主冲突和出场实体。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只对不准确内容做手动修正。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章节设计（第十一步）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创作元素 → 章节设计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9312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目标：把每卷拆成具体章节，明确每章主题、目标、阻力、转折和结尾钩子。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9312" y="480456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89040" y="502828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在左侧选择真实存在的当前分卷分类。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系统按该分卷起止章节自动计算待生成章节数量。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检查章节号、标题、目标、阻力、转折、钩子和实体引用。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只对不准确章节做手动修正。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3/3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常规完整路线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蓝图设计（第十二步）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创作元素 → 蓝图设计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目标：按每章一条蓝图补充本章起承转合、视角角色和关键执行要素。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推荐AI生成：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53654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在左侧选择真实存在的当前分卷分类。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系统校验章节设计完整后，按章节范围每章生成一条蓝图。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检查关联章节ID、本章结构一句话、节奏曲线、起承转合和实体引用。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只对不准确蓝图做手动修正。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打包（第十三步）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正文配置 → 数据中心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9312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目标：把已启用的设计数据和创作规划编译成创作台AI可读取的上下文包。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9312" y="231282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推荐操作：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9040" y="2536546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检查需要参与上下文的模块是否启用。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查看是否存在未打包变更。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等待完成提示。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379312" y="3337154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3904" y="3410306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注意：普通修改后使用重新打包，不要把清除打包当成刷新按钮。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预览（第十四步）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正文配置 → 章节预览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目标：在写正文前检查打包后的章节、实体引用、章节信息和蓝图信息。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4804562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推荐检查：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502828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左侧章节树是否完整。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总卷数、总章节数是否符合预期。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当前章节标题、主题、目标、转折和钩子是否明确。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涉及角色、地点、势力、剧情是否完整。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蓝图起承转合和关键执行要素是否足够清楚。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一键直出路线</a:t>
            </a:r>
            <a:r>
              <a:rPr lang="en-US" sz="2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适合想快速起盘的项目。它不是常规完整路线的替代审稿流程，而是先批量生成基础数据，再根据结果继续人工检查和补充。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推荐顺序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模型配置：先完成可用模型配置。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智能拆书：准备参考书或参考资料。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素材库：生成创意素材。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一键直出：按管线批量生成设计和创作规划数据。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入口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一键生成 → 一键直出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常见陷阱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489040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模型没有启用时，一键直出无法稳定执行。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素材库内容太空泛时，后续规则和规划也会泛化。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一键直出生成后仍需要人工查看关键字段，不要直接当成最终定稿。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快速开始 · 天命系统  ·  P.11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主窗口：创作台三栏结构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创作台是用户日常写作和与AI交互的主界面。它不是所有设置的入口，而是正文创作与AI协作的主场景。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846326"/>
          <a:ext cx="11277296" cy="1773936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43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常见操作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左侧文档区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管理卷、章节、文档树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选择章节、打开章节、查看结构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选择章节后，中间编辑器和右侧AI才知道当前目标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中间编辑区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写正文和查看不同视图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Dashboard、Markdown编辑、Diff、Plan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AI修改一般需要经过Diff确认，不要盲目覆盖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右侧AI对话区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和AI进行对话或执行任务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选择模式、选择模型、发送指令、引用上下文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模型必须先在模型管理中启用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主窗口：创作台三栏结构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推荐使用流程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17363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在左侧选择要处理的章节。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在中间确认当前正文或规划内容。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在右侧选择AI模型。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如果是正式生成正文，先切换到Agent模式，再输入“生成第X章”或“生成第N卷第M章”。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如果是多章计划、计划执行或@仿写，切换到Plan模式。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如果要精确指定章节，使用@chapter:volN_chM、@重写:volN_chM或@续写:volN_chM。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等待系统执行生成、校验、自动重写和保存。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成功后在章节树和编辑器中查看落盘正文。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操作效果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左侧选择决定当前上下文对象。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中间编辑器承载正文编辑和AI修改结果检查。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右侧AI对话区负责触发生成、重写、续写、计划和问答。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正式章节生成以打包上下文为准，不以当前聊天窗口累计上下文为准。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7686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没有选中章节就让AI修改正文，AI可能不知道目标。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数据中心没有重新打包，正式章节生成会被拦截或读取不到最新设计和规划。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把对话模式当成普通IDE式“长期上下文模式”会误解系统；天命更强调结构化数据、打包上下文和业务指令。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标题栏、仪表盘和编辑器Tab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（标题栏）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标题栏用于进入工作台、控制窗口和查看应用状态。它不是具体业务编辑区。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常见按钮和效果：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2238756"/>
          <a:ext cx="11277296" cy="199339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8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按钮或区域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点击效果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打开统一业务窗口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在写作/个人之间切换，并进入设计、创作、校验、智助、用户、界面、通知、系统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如果只是想写正文，不一定需要进入工作台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隐藏窗口到任务栏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不关闭程序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长任务可能仍在后台继续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最大化/还原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调整窗口大小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适配当前屏幕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小屏幕下建议最大化，避免字段显示不全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关闭窗口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结束当前窗口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未保存数据可能丢失，关闭前先保存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标题栏、仪表盘和编辑器Tab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仪表盘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仪表盘用于查看项目状态和快速进入常用操作。它适合“总览”，不适合替代具体业务模块。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标题栏、仪表盘和编辑器Tab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（编辑器Tab）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常见Tab：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84632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使用场景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Dashboard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查看项目概况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刚打开项目时确认状态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Markdown编辑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编辑章节正文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日常写作和人工修改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Diff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查看AI修改差异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使用Edit模式后确认是否接受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查看或执行规划相关内容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章节规划、任务计划或AI计划模式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84854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858006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注意：Diff视图里的内容不是“自动正确”。用户需要检查后再接受。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AI对话区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AI对话区是用户与AI交互的地方。它依赖模型管理、提示词、打包数据和当前上下文。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184632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用户需要关注什么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会话区域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选择或管理当前对话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长任务建议单独新建会话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模式区域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切换Agent、Plan、Edit等模式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模式决定AI如何解释任务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模型选择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选择当前使用模型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只有启用模型才会出现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消息列表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展示用户指令和AI回复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可复制、重生、收藏等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输入任务和上下文引用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指令越明确，结果越稳定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AI对话区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（常见按钮）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1453896"/>
          <a:ext cx="11277296" cy="256032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点击后发生什么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发送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提交当前指令给AI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AI开始处理并返回结果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发送前确认模型和模式正确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复制AI回复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将回复文本放入剪贴板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复制不等于应用到正文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重新生成回复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使用相近上下文再次调用AI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会消耗Token，结果可能变化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翻译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翻译当前内容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生成翻译结果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不适合替代正文润色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保存重要回复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加入收藏或标记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收藏不改变正文和设定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清空对话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清除当前会话消息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对话历史被清理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危险：清空后上下文记录不可恢复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Agent、Plan、Edit模式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62941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天命的Agent、Plan、Edit不是普通IDE或上下文式写作软件里的“长期记忆模式”。它们更接近任务路由/触发指令模式：系统会根据用户输入判断是否进入章节生成、计划执行、仿写、重写、续写或普通问答。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1596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74748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注意：正式章节生成使用的是数据中心打包出的章节上下文，不是右侧聊天记录本身。每章生成时会开启独立业务会话，生成结束后关闭该业务会话。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Agent、Plan、Edit模式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（Agent模式）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Agent模式主要用于触发执行类任务，尤其是章节生成、续写、重写等。输入无法识别为生成任务时，系统会按普通问答处理。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适合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输入“生成第12章”。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输入“生成第2卷第3章”。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使用@chapter:vol1_ch12明确生成目标。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使用@续写:vol1_ch12继续已有章节。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使用@重写:vol1_ch12重新生成已有章节。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触发需要工具执行的业务任务。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不适合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当成长期聊天记忆使用。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以为上一章对话内容会自动成为下一章生成上下文。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跳过数据中心打包直接依赖聊天记录写正文。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Agent、Plan、Edit模式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Plan模式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Plan模式主要用于生成或执行计划类任务。对短篇蓝图仿写、批量章节计划等场景更有意义。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10765231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@仿写:蓝图名称，构建短篇蓝图章节生成计划。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生成第X到Y章的执行计划。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拆分多步骤任务。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查看计划步骤并逐步执行。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3504" y="3766109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839261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13232" y="4236720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Plan不是“正文更严格模式”。它更多是计划/步骤视图。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@仿写只支持Plan模式。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计划生成后通常还要点击执行计划，才会真正开始逐章生成。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Agent、Plan、Edit模式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（Edit模式）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Edit模式适合普通对话式修改、解释、局部调整。系统明确阻止在Edit模式中执行章节生成。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适合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改写一段正文。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增强冲突。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降低废话。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统一人物语气。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修复不符合设定的段落。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问答、解释、整理思路。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操作流程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127304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先在左侧选中目标章节。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在中间打开正文。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在右侧切换到Edit模式。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输入明确修改要求。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发送任务。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查看回复或修改建议。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如果涉及正文覆盖，人工确认后再应用。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危险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379312" y="435711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Edit模式不执行正式章节生成。如果在Edit模式输入生成章节类任务，系统会阻止并提示切换到Plan/Agent。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@引用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（常见章节指令）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62941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@相关语法分为两类：一类是章节生成指令，另一类是输入框中的候选引用。正式生成时应优先使用当前代码已明确支持的章节指令，不要把所有业务对象都理解成一定能直接通过@对象名稳定注入。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57200" y="210159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指令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适用模式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@chapter:volN_chM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Agent或Plan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明确指定要生成的章节ID，减少自然语言解析歧义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@重写:volN_chM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Agent或Plan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对已存在章节执行重新生成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@续写:volN_chM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Agent或Plan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基于已有章节继续写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@仿写:蓝图名称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基于短篇蓝图构建章节生成计划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@引用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使用流程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先确认当前任务类型：正式生成、重写、续写、仿写，还是普通问答。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正式生成、重写、续写优先切换到Agent模式。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多章计划或@仿写切换到Plan模式。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输入对应指令并补充要求。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发送后检查系统是否解析到正确章节或蓝图。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操作效果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0820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指令只影响本次任务的目标解析，不会自动修改原始业务数据。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@chapter:volN_chM可以省去自然语言解析步骤。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“生成第X章”在章节号唯一时也可以正常触发，但仍要处在能执行生成的模式中。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角色、世界观、势力、位置、剧情等长期约束，应写入对应业务模块并重新打包，而不是只靠聊天里临时说明。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9321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以为@引用会自动保存设定，这是错误的。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把所有业务对象都当成稳定@入口，会误解当前系统能力。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引用旧数据或只在聊天里补充设定，正式生成仍可能读取旧打包上下文。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把@chapter当成唯一生成入口也是错误的；自然语言生成指令同样会被解析。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（进入方式）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62941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是所有业务模块的统一入口。当前界面左上角提供写作和个人两个模式：写作模式包括设计、创作、校验、智助；个人模式包括用户、界面、通知、系统。手册中提到的“设置类功能”对应当前界面的个人模式，不是一个名为“设置模式”的按钮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15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通常从主窗口标题栏点击“工作台”进入。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（页面结构）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57200" y="1453896"/>
          <a:ext cx="11277296" cy="1865376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左上模式切换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在写作和个人之间切换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顶部Tab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在当前模式内切换设计、创作、校验、智助，或用户、界面、通知、系统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左侧导航树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展开子模块并选择功能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右侧内容区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显示当前功能页面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166237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点击工作台。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选择写作或个人模式。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点击顶部大模块。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在左侧导航树展开子模块。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点击具体功能。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在右侧页面操作。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旧版资料中的模块名称可能与当前代码不同，应以当前工作台显示为准。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创作模块不是“AI对话区”，它是大纲、分卷、章节、蓝图和数据中心。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智助模块主要管模型、统计、提示词和版本测试，不直接写正文。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通用双栏编辑器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很多业务页面都使用相同的双栏编辑器结构，例如提示词管理、创意素材、世界观规则、角色规则、分卷设计等。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457200" y="184632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显示分类和数据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可搜索、选择、双击打开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右侧标准字段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名称、图标、状态、分类等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多数数据页面都有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右侧业务字段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当前业务独有字段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例如角色的性格、势力的目标、模型的端点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顶部Tab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切换不同详情区域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例如概览、参数、写作配置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操作按钮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新建、保存、删除、AI生成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具体可用性由当前业务决定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通用双栏编辑器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（分类和数据的区别）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457200" y="1453896"/>
          <a:ext cx="11277296" cy="117043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举例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删除风险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用来组织数据的目录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模型供应商、角色分组、剧情分类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删除分类可能删除下面所有子项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真正参与业务的记录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某个模型、某个角色、某条剧情规则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删除后该业务对象不可用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通用双栏编辑器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（通用按钮说明）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457200" y="1453896"/>
          <a:ext cx="11277296" cy="285292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075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点击后发生什么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创建分类或数据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清空表单或弹出创建选择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要分清是创建分类还是数据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保存当前表单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新增或更新当前对象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未保存就切换可能丢失修改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删除当前选中项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删除分类或数据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删除分类可能递归删除子项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全部删除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清空当前功能数据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删除大量数据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高风险，操作前必须确认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AI生成/AI批量/AI单次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调用AI生成业务内容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选中数据时通常显示AI生成；选中分类时，支持多条的模块显示AI批量，只生成一条的模块显示AI单次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生成结果需要人工检查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过滤左侧树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快速定位分类或数据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搜索不到不代表数据不存在，可能关键词不匹配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通用双栏编辑器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（标准字段说明）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57200" y="1453896"/>
          <a:ext cx="11277296" cy="221284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错误影响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8F9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显示在树和下拉框中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简洁、唯一、可识别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名称混乱会导致后续引用困难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显示视觉标识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选择与业务含义接近的图标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不影响业务逻辑，但影响辨识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控制是否启用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正式数据应保持启用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禁用后可能不参与AI上下文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决定数据归属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放到正确父分类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分类错误会导致后续查找困难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解释数据用途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写明使用场景和注意点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描述缺失会降低维护性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7E8F9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通用双栏编辑器</a:t>
            </a:r>
            <a:r>
              <a:rPr lang="en-US" sz="290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7E8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推荐操作流程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10765231" cy="26852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先在左侧确认当前所在分类。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选择创建分类或数据。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填写名称、状态、分类等标准字段。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填写业务字段。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如果需要AI辅助，按当前选择点击AI生成、AI批量或AI单次。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检查AI结果。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点击保存。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确认状态为已启用；可通过状态字段或左侧树的启用/禁用操作切换。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如果该数据会进入AI上下文，后续进入数据中心重新打包。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03504" y="4642104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715256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注意：通用双栏编辑器只是界面形式，不代表所有页面字段相同。每个业务的具体字段要看对应业务说明。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界面与通用操作 · 天命系统  ·  P.33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模块总览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智助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智助AI模块负责AI能力的基础配置和调试。它不直接管理小说设定，也不直接编辑正文，而是为所有AI生成、AI修改、AI校验提供底层能力。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3875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当前代码中的智助AI包含两个子模块：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457200" y="263118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入口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模型集成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配置模型供应商、模型、API统计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模型管理、API统计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提示词工具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管理提示词模板，测试提示词效果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提示词管理、版本测试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874770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推荐使用顺序：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" y="4267200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先进入模型管理配置供应商、端点、密钥和模型。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再进入提示词管理确认各业务提示词模板。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用版本测试验证提示词效果。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后续通过API统计观察调用成功率、速度和消耗。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智助 → 模型集成 → 模型管理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089099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模型管理是AI可用性的第一入口。如果这里没有配置好，后面的AI生成、提示词测试、正文创作、校验都可能无法正常使用。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模型管理用于完成五类事情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89040" y="186537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管理AI供应商分类。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配置供应商API端点和API密钥。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测试端点是否可用。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自动或手动创建模型配置。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配置模型参数和写作调用路由。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可以把它理解为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03504" y="435711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先把外部AI服务接入系统，再告诉系统哪些模型可以被使用，以及写作时默认走哪个模型。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457200" y="1453896"/>
          <a:ext cx="11277295" cy="256032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用户关注点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左侧模型树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显示模型分类、供应商、模型数据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需要分清分类和模型数据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快速查找供应商或模型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输入模型名或供应商名过滤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右侧Tab1详细信息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API端点、密钥、测试连接、获取模型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配置模型前最重要的区域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右侧Tab2参数与速率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模型采样、Token、限速、并发等参数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控制生成风格和调用节奏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右侧Tab3全局配置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参数模板和批量应用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适合给同供应商模型统一参数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右侧Tab4写作配置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对话API、备用API、润色API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决定创作台默认使用哪些模型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87368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160520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注意：模型管理页面中AI生成按钮显示但不可用，因为模型配置不是通过AI生成的业务内容。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（左侧树结构说明）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模型管理通常有多级结构：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457200" y="1846326"/>
          <a:ext cx="11277296" cy="1773936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43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层级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举例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是否能配置端点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Lv1分类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顶层分组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自建服务、内置服务等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通常不直接配置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Lv2供应商分类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某个具体供应商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OpenAI、DeepSeek、通义千问、自建代理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是，端点和密钥通常配置在这里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具体可调用模型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gpt-4o、deepseek-chat、qwen-plus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配置模型参数和启用状态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93414"/>
            <a:ext cx="11277295" cy="758698"/>
          </a:xfrm>
          <a:prstGeom prst="roundRect">
            <a:avLst>
              <a:gd name="adj" fmla="val 723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766566"/>
            <a:ext cx="10948111" cy="6489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陷阱：如果你选中了顶层分类或具体模型，却想测试供应商端点，可能会出现“请先选择一个供应商分类”的提示。测试连接和获取模型通常要求选中Lv2供应商分类。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（标准字段说明）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457200" y="1453896"/>
          <a:ext cx="11277296" cy="221284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错误影响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供应商或模型显示名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供应商用服务名，模型用真实模型ID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名称混乱会导致写作配置选择困难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显示在树上的图标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选择与供应商或模型类型接近的图标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不影响调用，但影响识别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控制模型是否启用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可用模型应启用，不用的模型禁用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禁用模型不会在创作台或写作配置中作为可用项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当前数据所在分组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供应商放在正确父分类，模型放在供应商下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分类错误会导致获取和管理混乱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补充说明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写清供应商、用途、限制和费用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描述为空不影响调用，但不利于维护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（API端点）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字段位置：Tab1详细信息 → API配置 → API端点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用途：填写AI供应商的请求地址。系统会基于该端点测试模型列表接口和Chat接口。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3875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填写建议：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631186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使用供应商提供的OpenAI兼容地址或项目支持的服务地址。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自建转发服务要确认路径是否已经包含/v1。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不要在末尾随意增加多余路径。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内置分类可能使用隐藏输入方式，普通自建分类使用文本框。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402056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点击或修改后的效果：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4412996"/>
            <a:ext cx="11057839" cy="74955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修改端点后，系统会检测配置是否变化。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如果端点变化，之前的验证签名可能失效，需要重新点击“测试API连接”。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5180838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常见错误：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（API端点）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/>
        </p:nvGraphicFramePr>
        <p:xfrm>
          <a:off x="457200" y="145389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可能原因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解决方式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测试连接失败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端点地址错误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对照供应商文档检查完整URL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能获取模型但Chat失败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Models接口和Chat接口规则不同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使用重试模型或手动指定模型重试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404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端点路径错误，或供应商不支持某接口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检查是否需要/v1，或改用手动模式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网络、代理或供应商不可达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检查代理设置和网络环境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（API密钥）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字段位置：Tab1详细信息 → API配置 → API密钥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用途：填写供应商API Key，用于身份认证。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3875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相关按钮：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457200" y="263118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点击效果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显示/隐藏密钥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切换密钥明文显示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方便检查是否复制错，但要注意隐私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增加轮询key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打开API密钥管理窗口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可以配置多个Key并启用轮询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874770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填写建议：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4267200"/>
            <a:ext cx="11057839" cy="106032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从供应商后台完整复制Key。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不要带多余空格、引号或换行。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如果使用多个Key，通过“增加轮询key”管理，不要随意堆在单个输入框中。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5345811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操作效果：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（API密钥）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53896"/>
            <a:ext cx="11057839" cy="74955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密钥变更后，端点验证状态会变化。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密钥管理器保存后，会同步Key池并显示已配置数量。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221738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94890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常见陷阱：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2751963"/>
            <a:ext cx="11057839" cy="106032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Key复制时多了空格，导致认证失败。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配置了多个Key但没有启用，实际可用Key数量为0。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用错供应商Key，例如把OpenAI Key填到DeepSeek供应商。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（测试API连接）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按钮位置：Tab1详细信息 → 模型获取方式 → 测试API连接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作用：验证当前供应商分类的端点和密钥是否真的可用。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3875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点击前必须满足：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631186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已选中Lv2供应商分类。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API端点不为空。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API密钥不为空。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当前配置已保存或允许测试。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402056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点击后系统会做什么：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（测试API连接）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53896"/>
            <a:ext cx="11057839" cy="230339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检查端点是否为空。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检查密钥是否为空。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检查当前节点是否为供应商分类。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尝试测试模型列表接口。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尝试测试Chat调用。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保存端点验证信息和签名。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根据结果显示成功、失败、重试或提示。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775583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成功效果：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168013"/>
            <a:ext cx="11057839" cy="106032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端点旁边会显示验证状态。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后续可以点击“获取可用模型列表”。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系统记录当前端点和密钥组合的验证签名。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5246624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失败后可能出现的处理方式：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3/3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（测试API连接）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/>
        </p:nvGraphicFramePr>
        <p:xfrm>
          <a:off x="457200" y="145389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页面可能提供的处理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Chat端点失败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获取模型重试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从已获取模型中选一个重试Chat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模型名不确定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指定模型重试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手动输入模型ID再重试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特殊供应商接口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强制保存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允许保存配置，但后续需要手动添加模型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继续等待或取消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长时间无响应时避免卡死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92424"/>
            <a:ext cx="11277295" cy="758698"/>
          </a:xfrm>
          <a:prstGeom prst="roundRect">
            <a:avLst>
              <a:gd name="adj" fmla="val 723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465576"/>
            <a:ext cx="10948111" cy="6489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陷阱：不要跳过测试连接直接获取模型。代码中获取模型会检查端点验证签名，如果端点或Key变了但没重新测试，会提示“请先点击测试连接验证端点”。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（自动获取模型）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位置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Tab1详细信息 → 模型获取方式 → 自动获取端点内所有模型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按钮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获取可用模型列表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用途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从供应商Models接口读取全部可用模型，并可批量创建模型配置。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点击前必须满足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489040" y="435711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当前模式切换到“自动获取端点内所有模型”。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API端点不为空。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API密钥不为空。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当前选中Lv2供应商分类。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已通过“测试API连接”验证当前端点和密钥。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（自动获取模型）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点击后发生什么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13232" y="186537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显示“正在从API获取可用模型列表”。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系统请求供应商模型列表。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如果没有获取到模型，会弹出警告。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如果获取成功，会提示获取到多少个模型。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用户确认后，系统批量创建配置。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创建后的模型显示在当前供应商分类下。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操作效果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89040" y="186537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可以快速把供应商所有模型加入系统。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已存在的模型通常不会重复创建。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创建后还需要检查状态和参数。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常见陷阱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13232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模型列表获取成功不代表每个模型都适合写作。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批量创建后模型可能默认禁用，需要手动启用。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有些供应商的Models接口不完整，可能需要手动添加模型。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（手动获取模型）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位置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Tab1详细信息 → 模型获取方式 → 手动获取输入指定模型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字段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按钮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用途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当供应商不支持模型列表接口，或你只想添加一个特定模型时使用。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（手动获取模型）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填写建议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13232" y="186537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模型名称必须是供应商真实支持的model id。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区分大小写。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不要使用自己随意起的中文名。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操作流程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89040" y="1865376"/>
            <a:ext cx="4989424" cy="14366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选中供应商分类。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确认端点和密钥已测试通过。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切换到“手动获取输入指定模型”。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输入模型ID，例如gpt-4o、deepseek-chat。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点击“获取”。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在确认弹窗中确认添加。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检查模型是否出现在供应商分类下。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启用模型并配置参数。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操作效果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13232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系统会创建一个指定模型配置。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该配置会显示在当前供应商分类下。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陷阱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379312" y="435711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手动添加不会证明这个模型一定可调用。如果模型ID填错，后续Chat调用仍会失败。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（启用和禁用模型）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模型创建后，还需要决定是否启用。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启用效果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89040" y="186537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模型可作为系统AI配置候选。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写作配置中可以选择它。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创作台模型下拉中才可能出现它。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禁用效果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13232" y="435711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模型不会作为主要可用模型出现。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可以保留配置，但暂时不参与使用。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推荐规则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489040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稳定、费用可控、速度正常的模型启用。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测试失败、费用高、响应慢、上下文太短的模型禁用。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不要把供应商返回的全部模型都启用。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（启用和禁用模型）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用户以为“创建模型=启用模型”，实际不是一回事。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写作配置找不到模型时，首先检查模型是否启用。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禁用模型不会删除配置，只是让它不参与使用。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（参数与速率配置）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位置：Tab2参数与速率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这些参数影响AI输出风格、长度、重复度、调用速度和并发稳定性。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（参数与速率配置）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/>
        </p:nvGraphicFramePr>
        <p:xfrm>
          <a:off x="457200" y="1453896"/>
          <a:ext cx="11277296" cy="4773171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71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推荐理解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Temperature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控制随机性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越高越发散，越低越稳定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太高容易跑题，太低可能死板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TopP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控制采样范围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通常保持默认即可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和Temperature同时乱调会导致不可预测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FrequencyPenalty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降低重复词句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适合减少复读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太高可能导致表达不自然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PresencePenalty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鼓励引入新内容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适合扩展话题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太高可能偏离设定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MaxTokens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控制最大输出长度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0表示使用模型默认或系统策略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不是无限输出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生成批次档位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批处理规格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用于批量任务能力区分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不等于模型上下文长度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RateLimitRPM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每分钟请求限制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防止供应商限流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填太高可能触发429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RateLimitTPM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每分钟Token限制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控制Token吞吐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不填不代表供应商无限制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MaxConcurrency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最大并发数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控制同时请求数量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太高会失败或被限流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Seed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随机种子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用于可复现输出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不是所有模型都支持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StopSequences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停止序列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遇到指定文本停止生成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配错会导致输出提前截断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重试次数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调用失败后自动重试次数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根据供应商稳定性设置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设置太高会延长失败等待时间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3/4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（参数与速率配置）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/>
        </p:nvGraphicFramePr>
        <p:xfrm>
          <a:off x="457200" y="1453896"/>
          <a:ext cx="11277296" cy="82296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推荐理解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超时时间（秒）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单次请求超时阈值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根据网络和模型响应速度调整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太短可能导致长文本生成中断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4/4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（参数与速率配置）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此外，Tab2还包含「推理与思考」区域：</a:t>
            </a:r>
            <a:endParaRPr lang="en-US" sz="15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/>
        </p:nvGraphicFramePr>
        <p:xfrm>
          <a:off x="457200" y="184632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支持推理参数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标记模型是否支持推理调整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勾选后可配置思考强度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支持思考参数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标记模型是否支持深度思考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勾选后可开启深度思考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 1M 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标记模型是否支持超长上下文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探测命中后自动勾选，但默认不启用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深度思考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控制是否启用思考过程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需要模型支持思考参数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思考强度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调整思考深度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需要模型支持推理参数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32326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4205478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建议：普通用户不要一开始大量修改参数。先用默认值完成测试，确认模型稳定后，再按用途微调。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全局配置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位置：Tab3全局配置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作用：管理参数模板，并把模板批量应用到某个供应商的多个模型。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" y="2596896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适合场景：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2926080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同一个供应商的模型都希望使用同一套温度、TopP、并发和限速。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模型太多，逐个配置成本高。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想建立“稳定写作”“创意发散”“低成本测试”等参数模板。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03504" y="3839566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操作效果：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4168750"/>
            <a:ext cx="10765231" cy="6394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保存模板会更新模板配置。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应用到供应商全部模型会批量覆盖对应模型参数。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03504" y="4826508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4899660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危险：批量应用会覆盖单个模型已有参数。如果某个模型单独调过特殊参数，应用前要确认是否能被覆盖。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（写作配置）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位置：Tab4写作配置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写作配置决定系统在创作台和写作相关功能中优先调用哪些API。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3875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常见配置项：</a:t>
            </a:r>
            <a:endParaRPr lang="en-US" sz="1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/>
        </p:nvGraphicFramePr>
        <p:xfrm>
          <a:off x="457200" y="263118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对话API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创作台普通对话和写作任务使用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选择稳定、质量高的模型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备用API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主API失败或耗尽时使用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选择同类能力的备用模型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润色API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用于润色、改写等任务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可选择表达能力强的模型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立即恢复主API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从备用API切回主API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主API恢复后再点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569714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操作效果：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4962144"/>
            <a:ext cx="11057839" cy="74955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选择后，创作台和写作相关服务会按这里的路由调用模型。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备用API可以提高长任务稳定性。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57200" y="5729986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5803138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常见陷阱：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（写作配置）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53896"/>
            <a:ext cx="11057839" cy="106032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只启用了模型，但没有在写作配置里选择，创作体验可能不符合预期。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备用API为空时，主API失败就无法自动切换。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润色API不宜选择上下文太短或质量过低的模型。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（从零配置模型的完整流程）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打开工作台。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进入智助。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展开模型集成。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49593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点击模型管理。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84327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在左侧选择合适的顶层分类，例如自建服务。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19062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点击新建。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53796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选择创建供应商分类。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388531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填写供应商名称，例如“DeepSeek官方”。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23265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点击保存。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458000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选中新建的供应商分类。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492734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在API端点中填写供应商端点。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527469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 在API密钥中填写Key。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562203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13. 如有多个Key，点击增加轮询key并配置启用状态。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596938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14. 点击测试API连接。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31672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15. 如果测试失败，根据提示修正端点、Key或代理。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55868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16. 测试成功后，选择自动获取端点内所有模型。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55868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17. 点击获取可用模型列表。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55868" y="214858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18. 确认批量创建模型配置。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55868" y="249593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19. 在左侧选择实际要用的模型。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55868" y="284327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20. 设置模型状态为启用。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255868" y="3190621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21. 检查Temperature、MaxTokens、RPM、并发等参数。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55868" y="378472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22. 进入写作配置。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255868" y="413207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23. 选择默认对话API、备用API、润色API。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255868" y="447941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24. 保存配置。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255868" y="482676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25. 回到创作台AI对话区，确认模型可选。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（常见问题）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360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创作台看不到模型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可能原因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89040" y="1865376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模型没有启用。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写作配置没有选择该模型。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配置后没有同步或保存。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当前模型属于错误分类。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处理方式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13232" y="435711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回到模型管理。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找到目标模型。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确认状态为启用。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进入写作配置选择模型。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保存后重新打开或刷新创作台。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603504" y="5321300"/>
            <a:ext cx="5208880" cy="360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测试API连接失败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可能原因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489040" y="435711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API端点错误。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API密钥错误。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网络或代理失败。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供应商接口不是OpenAI兼容。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模型列表接口可用但Chat接口不可用。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（常见问题）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处理方式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13232" y="186537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检查端点是否完整。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检查Key是否复制完整。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到系统设置检查代理。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使用获取模型重试或指定模型重试。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对特殊接口使用手动模型添加。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03504" y="2829560"/>
            <a:ext cx="5208880" cy="360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获取模型提示需要先测试连接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原因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89040" y="186537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当前端点和密钥组合没有通过测试。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测试后又修改了端点或Key，验证签名失效。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处理方式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13232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保存当前配置。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重新点击测试API连接。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成功后再获取模型。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03504" y="4994148"/>
            <a:ext cx="5208880" cy="360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手动添加模型后仍调用失败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原因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489040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手动模型名只是创建配置，不保证供应商支持。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model id大小写或名称不正确。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该模型不支持Chat接口。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3/3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（常见问题）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处理方式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到供应商文档复制准确模型ID。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重新手动添加。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用指定模型重试Chat。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不可用则禁用该模型。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API统计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智助 → 模型集成 → API统计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5208880" cy="5303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API统计用于观察模型调用情况。它不是配置模型的地方，而是排查稳定性、成本和速度问题的地方。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API统计可以帮助用户判断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哪个模型调用最多。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哪个模型失败率高。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平均响应速度是否异常。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最近调用是否出现错误。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Token消耗是否过高。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API统计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（常见数据）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457200" y="1453896"/>
          <a:ext cx="11277295" cy="395021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总调用数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所有API调用次数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判断使用量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成功率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成功调用占比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判断模型稳定性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调用失败的总次数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快速判断是否有异常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平均响应时间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平均等待时间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判断速度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累计输入Tokens / 累计输出Tokens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分别统计输入和输出消耗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判断上下文成本和生成成本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首Token延迟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第一个Token返回时间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判断流式响应体验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平均速度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每秒生成Token数量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判断输出速度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最近7天统计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按日统计调用次数、成功/失败、平均响应时间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观察趋势和异常波动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按模型聚合数据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找出问题模型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最近50次调用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最近请求记录、响应、首Token、TPS、工具调用和错误信息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排查具体失败原因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API统计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（常见按钮）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/>
        </p:nvGraphicFramePr>
        <p:xfrm>
          <a:off x="457200" y="145389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刷新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重新读取统计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不改变配置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清除统计记录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清空后无法再从页面查看历史统计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697480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770632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危险：清空统计不会删除模型配置，但会删除用于排查问题的历史数据。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智助 → 提示词工具 → 提示词管理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提示词管理用于维护系统各业务使用的Prompt正文和说明。当前页面使用通用双栏编辑器。</a:t>
            </a:r>
            <a:endParaRPr lang="en-US" sz="15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/>
        </p:nvGraphicFramePr>
        <p:xfrm>
          <a:off x="457200" y="2238756"/>
          <a:ext cx="11277296" cy="1865376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左侧提示词树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管理提示词分类和模板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Prompt正文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编写实际发送给AI的系统提示词或业务提示词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描述该提示词用途和注意事项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高级功能占位区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当前显示“占位中，待构建”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69" name="Table 0"/>
          <p:cNvGraphicFramePr>
            <a:graphicFrameLocks noGrp="1"/>
          </p:cNvGraphicFramePr>
          <p:nvPr/>
        </p:nvGraphicFramePr>
        <p:xfrm>
          <a:off x="457200" y="1453896"/>
          <a:ext cx="11277296" cy="1865376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提示词模板名称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使用业务名+用途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名称混乱会导致后续难以选择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正式使用的模板启用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禁用后可能不参与业务调用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Prompt正文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AI真正读取的指令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要明确角色、目标、输入、输出格式、限制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写得太泛会导致AI输出不稳定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给用户看的解释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写清用途和修改风险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说明不影响AI，但影响维护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提示词管理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17383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进入提示词管理。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在左侧选择分类或模板。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点击新建创建模板。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填写名称和状态。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编写Prompt正文。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在说明中写清用途。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如需验证效果，进入版本测试。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不要直接大改关键内置提示词，建议复制后再调整。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Prompt正文里不要写相互矛盾的要求。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输出格式要求越复杂，越需要在版本测试中验证。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版本测试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智助 → 提示词工具 → 版本测试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版本测试用于比较提示词或版本在同一输入下的表现。它适合在正式替换提示词前做验证。</a:t>
            </a:r>
            <a:endParaRPr lang="en-US" sz="15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/>
        </p:nvGraphicFramePr>
        <p:xfrm>
          <a:off x="457200" y="2238756"/>
          <a:ext cx="11277296" cy="256032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左侧测试版本树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选择已有提示词分类或版本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快捷模板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快速填充常用测试输入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测试输入要求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本次测试给AI的任务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执行测试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发起AI测试调用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动态评分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创意性、连贯性、逻辑性、情感度、综合得分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版本对比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选择分类A/分类B，对比不同提示词输出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版本测试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（评分说明）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/>
        </p:nvGraphicFramePr>
        <p:xfrm>
          <a:off x="457200" y="145389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评分项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观察重点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4FC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创意性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输出是否有新意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是否避免模板化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连贯性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前后是否顺畅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是否断裂、跳跃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逻辑性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因果是否合理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是否自相矛盾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情绪表达是否到位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是否符合目标氛围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综合得分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总体评价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只能辅助判断，不能替代人工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5B4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版本测试</a:t>
            </a:r>
            <a:r>
              <a:rPr lang="en-US" sz="290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127304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进入版本测试。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在左侧选择已有提示词版本或分类。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选择快捷模板，或手动填写测试输入要求。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点击执行测试。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等待AI输出和评分更新。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查看版本对比结果。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把表现好的Prompt思路回写到提示词管理。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操作效果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可以在不直接影响正式业务的情况下测试已有Prompt表现。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可以发现提示词是否导致跑题、格式错误、逻辑混乱。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5B4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测试会真实调用AI并消耗Token。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一次测试表现好不代表所有场景都好。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测试输入太短，无法暴露复杂业务问题。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评分只是辅助指标，最终仍要人工判断输出是否符合业务要求。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智助AI · 天命系统  ·  P.72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EE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设计模块用于构建小说的设定基础。它解决的是“AI写作前到底应该知道什么”的问题。设计模块中的数据越清楚，后续大纲、分卷、章节、蓝图和正文越稳定。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 · 天命系统  ·  P.73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当前业务入口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/>
        </p:nvGraphicFramePr>
        <p:xfrm>
          <a:off x="457200" y="1453896"/>
          <a:ext cx="11277295" cy="395021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智能拆书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拆书分析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从网页或本地文本导入源书，提取世界观、角色、剧情技巧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智能拆书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把原始资料提炼成目标设计模块可落盘的数据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一键生成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一键直出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按10步管线自动生成设计与创作规划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一键生成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短篇直出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为短篇小说生成章节蓝图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创作模板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基于拆书和题材生成创意素材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全局设定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定义力量体系、宇宙观、硬规则、软规则和历史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管理角色身份、性格、关系、成长、技能和装备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管理组织、阵营、目标、成员和对外关系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管理地点、地理、资源、危险和所属势力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管理事件、参与方、流程和影响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 · 天命系统  ·  P.74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推荐建设顺序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有参考书时，先做拆书分析。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有资料库时，用提炼分析把资料变成结构化数据。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需要快速起盘时，用一键直出生成全链路草稿。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49593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用模板管理生成创意素材。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843276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进入世界观规则，在默认内置分类世界观规则下执行AI批量生成，再手动检查固化。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437382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进入角色规则，在默认内置分类角色规则下执行AI批量生成，再手动检查角色弧光和关系。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4031488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进入势力规则，在默认内置分类势力规则下执行AI批量生成，再手动检查组织关系。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625594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进入位置规则，在默认内置分类位置规则下执行AI批量生成，再手动检查地点和所属势力。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5219700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进入剧情规则，在默认内置分类剧情规则下填写总卷数并执行AI批量生成，再手动检查事件因果。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81380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进入创作模块生成大纲、分卷、章节和蓝图。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 · 天命系统  ·  P.75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设计数据会影响什么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graphicFrame>
        <p:nvGraphicFramePr>
          <p:cNvPr id="77" name="Table 0"/>
          <p:cNvGraphicFramePr>
            <a:graphicFrameLocks noGrp="1"/>
          </p:cNvGraphicFramePr>
          <p:nvPr/>
        </p:nvGraphicFramePr>
        <p:xfrm>
          <a:off x="457200" y="1453896"/>
          <a:ext cx="11277296" cy="256032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影响范围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所有后续生成，尤其是世界规则、能力边界、历史一致性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章节设计、蓝图设计、正文对话、角色行为和校验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冲突、阵营关系、权力格局、地点归属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场景描写、行动路线、资源、危险和地点限制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大纲、章节目标、伏笔、冲突推进、校验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创意素材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生成世界观、角色、剧情时的灵感来源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87368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160520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注意：设计模块不是“写正文”的地方。它负责建立AI写正文时必须遵守和参考的数据。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 · 天命系统  ·  P.76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</a:t>
            </a:r>
            <a:r>
              <a:rPr lang="en-US" sz="2900" b="1" dirty="0">
                <a:solidFill>
                  <a:srgbClr val="6EE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EE7B7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6EE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通用陷阱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只让AI自由生成，不保存结构化设计数据，后续长篇很容易漂移。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创建了数据但状态是禁用，后续可能不参与上下文。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修改设计后没有进入数据中心重新打包，创作台AI仍读旧数据。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多个同类设定同时启用且互相矛盾，会导致AI输出混乱。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设计字段写得太抽象，例如“主角很强”，不如写清能力边界、代价和限制。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设计模块总览 · 天命系统  ·  P.77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智能拆书 → 拆书分析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拆书分析用于从参考书中提炼可借鉴的创作技巧。它不是让用户抄参考书，而是把源书拆成世界观、角色、剧情三个维度，为后续创意素材和设计规则提供参考。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P.78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页面结构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0" name="Table 0"/>
          <p:cNvGraphicFramePr>
            <a:graphicFrameLocks noGrp="1"/>
          </p:cNvGraphicFramePr>
          <p:nvPr/>
        </p:nvGraphicFramePr>
        <p:xfrm>
          <a:off x="457200" y="145389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Tab1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在线获取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输入网站地址，用内置WebView打开网页并提取书籍信息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Tab2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源书爬取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保存源书信息、章节列表和章节预览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Tab3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提炼世界构建、力量体系、环境、势力和亮点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Tab4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提炼主角、配角、关系、金手指和角色亮点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Tab5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提炼情节结构、冲突、高潮、伏笔和剧情亮点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39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左侧仍是通用数据树，可新建、保存、删除拆书记录。右侧根据Tab显示不同内容。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132326"/>
            <a:ext cx="11277295" cy="758698"/>
          </a:xfrm>
          <a:prstGeom prst="roundRect">
            <a:avLst>
              <a:gd name="adj" fmla="val 723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4205478"/>
            <a:ext cx="10948111" cy="6489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注意：不一定需要先手动新建数据。在左侧选中真实存在的当前分类后，点击提取书名，如果提取到书名且没有同名数据，系统会弹确认框自动创建书籍分析数据。默认内置分类是拆书记录。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P.79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在线获取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/>
        </p:nvGraphicFramePr>
        <p:xfrm>
          <a:off x="457200" y="1453896"/>
          <a:ext cx="11277296" cy="117043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错误影响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网站地址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要打开的小说页面URL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填完整网址，包括协议，例如https://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地址错误会打不开页面或无法提取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保存访问过的网址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选择历史记录可快速回到之前网页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历史太多会干扰选择，可清除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P.80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在线获取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/>
        </p:nvGraphicFramePr>
        <p:xfrm>
          <a:off x="457200" y="1453896"/>
          <a:ext cx="11277296" cy="310896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44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点击后发生什么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打开网站地址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WebView加载目标网页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需要网络可访问，部分网站可能拦截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返回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WebView后退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回到上一个浏览页面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只影响网页浏览，不影响保存数据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本地导入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导入本地文件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支持.txt、.md、.json、.docx；如果左侧已选中分类且无同名数据，会弹确认框自动创建书籍分析数据并导入章节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适合无法爬取的网站或私有资料；未选中分类时不会自动创建数据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提取书名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从页面提取书籍元信息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提取书名、作者、题材、标签；如果选中了分类且无同名数据，会弹确认框自动创建书籍分析数据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未选中分类时只提取信息不创建数据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获取精华章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AI选章+自动爬取+保存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识别章节目录→AI从中选出精华章→自动爬取选中章节内容→保存爬取内容和结构蓝图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前置条件：必须已有或已选中一条书籍分析数据；精华章质量影响后续分析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清理URL历史记录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删除历史下拉中的记录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不删除已保存的拆书数据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P.81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源书爬取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（源书信息）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源书爬取Tab分三个区域：源书信息、爬取统计和章节预览。</a:t>
            </a:r>
            <a:endParaRPr lang="en-US" sz="15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/>
        </p:nvGraphicFramePr>
        <p:xfrm>
          <a:off x="457200" y="1846326"/>
          <a:ext cx="11277296" cy="1865376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错误影响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源书书名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参考书名称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使用真实书名，便于后续选择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名称为空会影响创意素材引用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源书作者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作者名称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如不清楚可留空或手动补充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不影响分析，但影响资料识别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类型/题材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源书题材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如玄幻、都市、悬疑等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题材不准确会影响借鉴方向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关键词/标签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源书核心卖点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每个标签简短明确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标签太泛会降低后续生成质量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P.82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源书爬取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（爬取统计）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/>
        </p:nvGraphicFramePr>
        <p:xfrm>
          <a:off x="457200" y="1453896"/>
          <a:ext cx="11277296" cy="1517904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已获取章节数量，自动统计；为0说明没有有效章节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总字数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已获取总字数，自动统计；异常可能说明爬取失败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爬取时间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数据获取时间，自动显示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P.83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源书爬取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章节预览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左侧章节列表，右侧查看选中章节正文内容。预览为空说明章节内容缺失。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P.84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世界观分析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6" name="Table 0"/>
          <p:cNvGraphicFramePr>
            <a:graphicFrameLocks noGrp="1"/>
          </p:cNvGraphicFramePr>
          <p:nvPr/>
        </p:nvGraphicFramePr>
        <p:xfrm>
          <a:off x="457200" y="145389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世界构建手法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总结源书如何建立世界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写方法论，不要照搬设定名词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力量体系设计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提炼能力、等级、代价、限制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重点关注“规则”和“边界”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环境描写技巧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提炼场景和氛围写法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记录可复用的描写方法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势力设计技巧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提炼组织结构和权力关系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关注势力目标、冲突和资源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源书世界观最吸引人的点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写可借鉴的亮点，不写抄袭桥段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P.85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角色分析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7" name="Table 0"/>
          <p:cNvGraphicFramePr>
            <a:graphicFrameLocks noGrp="1"/>
          </p:cNvGraphicFramePr>
          <p:nvPr/>
        </p:nvGraphicFramePr>
        <p:xfrm>
          <a:off x="457200" y="145389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主角塑造手法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分析主角如何建立吸引力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关注目标、缺陷、成长和爽点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配角设计技巧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分析配角如何服务主线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关注功能位和差异化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人物关系设计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分析关系网和情感变化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记录冲突、联盟、背叛、羁绊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金手指设计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分析特殊能力或优势设计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关注代价、限制和升级节奏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角色塑造亮点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总结角色层面的可借鉴点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不要直接复制人物设定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P.86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剧情分析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graphicFrame>
        <p:nvGraphicFramePr>
          <p:cNvPr id="88" name="Table 0"/>
          <p:cNvGraphicFramePr>
            <a:graphicFrameLocks noGrp="1"/>
          </p:cNvGraphicFramePr>
          <p:nvPr/>
        </p:nvGraphicFramePr>
        <p:xfrm>
          <a:off x="457200" y="1453896"/>
          <a:ext cx="11277295" cy="2212848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情节结构技巧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分析剧情组织方式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关注开局、升级、转折、收束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冲突设计手法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分析矛盾制造方式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记录人物、势力、资源、规则冲突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高潮布局技巧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分析高潮如何铺垫和爆发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关注节奏、反转和情绪释放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伏笔技巧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分析伏笔设置和回收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记录伏笔出现、隐藏、回收方式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剧情设计亮点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总结剧情层面的可借鉴点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不要保留具体抄袭桥段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P.87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完整操作流程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推荐路径（自动创建数据）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362590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进入拆书分析页面。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在左侧选中真实存在的当前分类，默认内置分类是拆书记录；也可以先手动新建分类。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在在线获取Tab输入网站地址。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点击搜索，确认网页能打开。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点击提取书名，系统提取书名后弹确认框自动创建书籍分析数据。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点击获取精华章，系统自动完成AI选章→爬取→保存。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切换到源书爬取Tab，检查章节数、总字数和章节预览。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点击AI生成（前提：已有书籍分析数据），让系统分析世界观、角色和剧情。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逐项检查三类分析结果。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删除不适合借鉴或过于具体的桥段。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保存拆书记录。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后续在创意素材或一键直出中选择该来源拆书。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备选路径（本地导入）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87695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在左侧选中真实存在的当前分类，默认内置分类是拆书记录；也可以先手动新建分类。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点击本地导入，选择.txt、.md、.json或.docx文件。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如果没有同名书籍分析数据，确认自动创建。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系统读取文件、拆分章节并保存爬取内容。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点击AI生成。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检查结果并保存。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P.88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</a:t>
            </a:r>
            <a:r>
              <a:rPr lang="en-US" sz="29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操作效果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保存后会形成可复用的拆书资料。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创意素材中的“来源拆书”下拉会引用这些记录。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一键直出中的“创作模板”步骤也可以选择来源拆书。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25618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把拆书当成抄书：这是最大风险。拆书应保留方法，不应复制具体人物、地名、桥段。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网页能打开但提取失败：说明网站结构不适配，改用本地导入。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章节预览为空：说明爬取没有拿到正文内容，后续AI分析会很弱。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只保存源书信息，不做三维分析：后续创意素材可用信息不足。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AI生成后不检查：可能保留过度相似内容，需要人工改写成方法论。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没有选中分类就点提取书名：系统只提取信息不会创建数据，会提示先选中分类。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没有书籍分析数据就点获取精华章或AI生成：按钮不可用，必须先创建或选中数据。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拆书分析 · 天命系统  ·  P.89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智能拆书 → 提炼分析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提炼分析用于把一段原始文本、资料或拆书内容转换为目标模块可用的结构化结果。它适合处理大量资料，避免用户手工逐条录入。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P.90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功能作用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提炼分析解决的问题是：用户手里有资料，但资料不是系统字段格式。通过提炼分析，可以把资料转成角色、剧情、世界观、势力、位置等模块可以落盘的数据。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P.91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页面结构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graphicFrame>
        <p:nvGraphicFramePr>
          <p:cNvPr id="93" name="Table 0"/>
          <p:cNvGraphicFramePr>
            <a:graphicFrameLocks noGrp="1"/>
          </p:cNvGraphicFramePr>
          <p:nvPr/>
        </p:nvGraphicFramePr>
        <p:xfrm>
          <a:off x="457200" y="1453896"/>
          <a:ext cx="11277295" cy="1517904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Tab1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内容上传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选择目标模块、上传文件、粘贴原始内容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Tab2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提炼预览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查看AI提炼出的结果，并确认落盘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Tab3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提炼历史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查看历史提炼记录、落盘状态和结果摘要，可清空历史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44952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左侧树是预建的目标模块选择树，不能新建、删除或保存节点（工具栏上的新建/保存/删除按钮不可用）。双击节点选择目标模块。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内容上传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graphicFrame>
        <p:nvGraphicFramePr>
          <p:cNvPr id="94" name="Table 0"/>
          <p:cNvGraphicFramePr>
            <a:graphicFrameLocks noGrp="1"/>
          </p:cNvGraphicFramePr>
          <p:nvPr/>
        </p:nvGraphicFramePr>
        <p:xfrm>
          <a:off x="457200" y="1453896"/>
          <a:ext cx="11277296" cy="1517904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错误影响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当前要提炼到哪个业务模块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先在左侧选择目标节点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未选目标时AI不知道输出结构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总卷数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剧情规则提炼的必填约束输入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选择剧情规则时填写大于0的数字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未填写或不是正整数时AI生成按钮不可用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原始内容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待提炼文本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粘贴足够完整的资料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内容太少会导致结果空泛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P.93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内容上传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graphicFrame>
        <p:nvGraphicFramePr>
          <p:cNvPr id="95" name="Table 0"/>
          <p:cNvGraphicFramePr>
            <a:graphicFrameLocks noGrp="1"/>
          </p:cNvGraphicFramePr>
          <p:nvPr/>
        </p:nvGraphicFramePr>
        <p:xfrm>
          <a:off x="457200" y="1453896"/>
          <a:ext cx="11277296" cy="263347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点击后发生什么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选择文件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导入本地资料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支持.txt、.md、.docx；内容填入原始内容区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超大文件会截取前80000字符用于AI提炼，建议分批处理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清空当前输入或结果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删除页面当前内容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不等于删除已落盘数据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对原始内容执行提炼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生成提炼结果列表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前提：已选目标模块+已输入内容+前置字段已填；部分模块有依赖顺序，系统会提示先提炼前置模块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确认落盘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把有效提炼结果写入目标模块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生成正式业务数据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落盘前必须检查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删除提炼历史记录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历史列表被清空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不删除已落盘业务数据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P.94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提炼预览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（有效和无效的意义）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提炼预览显示AI生成的结果列表。每条结果会显示：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846326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名称。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有效/无效状态。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字段摘要。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目标模块对应的结构化内容。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23570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点击确认落盘后，系统只会把有效结果写入目标模块，并在提炼历史中标记为已落盘。落盘后仍需要回到目标模块检查字段内容、分类和启用状态。</a:t>
            </a:r>
            <a:endParaRPr lang="en-US" sz="15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/>
        </p:nvGraphicFramePr>
        <p:xfrm>
          <a:off x="457200" y="362813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处理方式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至少满足基础结构要求，例如名称存在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可以检查后落盘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缺少必要字段或格式错误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不建议直接落盘，应重新生成或手工修正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P.95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完整操作流程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AI提炼流程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31967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进入提炼分析页面。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在左侧选择要提炼到的目标模块。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如果页面显示前置输入，例如总卷数，先填写。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点击选择文件导入资料，或直接粘贴原始内容。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检查原始内容是否完整、干净、无乱码。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点击AI生成。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切换到提炼预览。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查看每条结果名称和字段摘要。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删除或忽略明显错误的结果。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点击确认落盘。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回到对应业务模块检查新生成的数据。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保存、启用，并在必要时进入数据中心重新打包。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落盘后手动维护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32435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提炼分析页不负责手动维护目标模块数据。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如需修改字段、分类、启用状态或删除无效条目，应回到对应业务模块处理。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例如提炼到角色规则，就回到角色规则检查和修正；提炼到剧情规则，就回到剧情规则检查和修正。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P.96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操作效果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提炼结果落盘后，会成为目标模块的正式数据。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例如提炼到角色规则，会生成角色数据。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例如提炼到剧情规则，会生成剧情事件数据。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这些数据后续可被创作规划和AI上下文使用。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87695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原始内容包含大量无关文本，会污染提炼结果。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没有选择正确目标模块，AI会按错误结构生成。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看到“有效”就直接落盘也有风险，有效只代表结构合格，不代表内容一定合理。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总卷数等前置字段漏填，会影响剧情、大纲类提炼。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落盘后还需要到目标模块检查，不要把提炼分析当成最终审核。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清空历史只清理提炼记录，不会撤销已经写入目标模块的业务数据。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提炼分析 · 天命系统  ·  P.97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本章节覆盖三个入口：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P.98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53896"/>
            <a:ext cx="11057839" cy="106032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创作模板 → 模板管理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一键生成 → 一键直出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一键生成 → 短篇直出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P.99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模板管理：创意素材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（页面结构）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模板管理当前对应的是创意素材页面。它用于把来源拆书、题材类型、黄金三章策略、小说简介和整体构思融合成可复用素材。</a:t>
            </a:r>
            <a:endParaRPr lang="en-US" sz="15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/>
        </p:nvGraphicFramePr>
        <p:xfrm>
          <a:off x="457200" y="184632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Tab1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来源拆书、题材、黄金三章、小说简介、整体构思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Tab2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世界构建、力量体系、环境描写、势力设计、亮点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Tab3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主角、配角、关系、金手指、角色亮点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Tab4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情节结构、冲突、高潮、伏笔、剧情亮点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P.100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模板管理：创意素材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graphicFrame>
        <p:nvGraphicFramePr>
          <p:cNvPr id="102" name="Table 0"/>
          <p:cNvGraphicFramePr>
            <a:graphicFrameLocks noGrp="1"/>
          </p:cNvGraphicFramePr>
          <p:nvPr/>
        </p:nvGraphicFramePr>
        <p:xfrm>
          <a:off x="457200" y="1453896"/>
          <a:ext cx="11277296" cy="2340864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选择拆书分析记录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选择与目标作品风格接近的参考书（UI上标记为必填）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没有拆书记录时下拉为空；未选择时AI上下文会尝试使用第一个启用的拆书记录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题材/类型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选择目标作品题材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选择最接近目标市场的分类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题材错会导致素材方向偏差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黄金三章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是否启用前3章爽点要求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想快速抓读者时启用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不适合所有慢热作品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小说简介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目标小说整体介绍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写清主角、目标、冲突和卖点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简介太短会导致AI泛化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整体构思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创作方向和核心设想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写清世界、主线、节奏和差异点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空泛构思会导致素材无特色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P.101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模板管理：创意素材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AI生成效果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5208880" cy="74980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创意素材不支持多条批量生成。选中分类节点时，按钮显示为AI单次；选中具体素材数据时，按钮显示为AI生成。点击后系统会根据来源拆书、题材、简介和整体构思，生成三类素材：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706624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世界观素材。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角色素材。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剧情素材。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03504" y="3620110"/>
            <a:ext cx="5208880" cy="5303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这些素材不是最终设定，而是后续世界观规则、角色规则、剧情规则的灵感来源。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AI生成流程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89040" y="1938528"/>
            <a:ext cx="4989424" cy="31967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进入模板管理。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在左侧选择真实存在的当前分类，默认内置分类是素材库。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选择来源拆书。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选择题材/类型。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选择是否启用黄金三章。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填写小说简介。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填写整体构思。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确认按钮显示为AI单次，点击AI单次并确认生成。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系统会在当前分类下生成一条创意素材数据。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检查世界观、角色、剧情素材。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删除过于相似或不适合的内容。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进入五大设计模块，把素材固化为正式规则。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P.102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模板管理：创意素材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手动维护流程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191810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进入模板管理。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在左侧选择真实存在的当前分类，默认内置分类是素材库。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填写名称和分类。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选择来源拆书、题材/类型和黄金三章策略。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手动填写小说简介、整体构思、世界观素材、角色素材和剧情素材。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常见陷阱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1109777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创意素材不是最终规则，不能替代世界观规则和角色规则。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来源拆书只是参考，不应复制原书具体桥段。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黄金三章是项目级开关，启用后会影响前3章蓝图的爽点要求，不要随意打开。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P.103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（管线步骤）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一键生成 → 一键直出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一键直出用于按固定管线自动生成从设计到创作规划的一整套数据。它适合快速起盘，但生成后仍需要人工检查。</a:t>
            </a:r>
            <a:endParaRPr lang="en-US" sz="15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/>
        </p:nvGraphicFramePr>
        <p:xfrm>
          <a:off x="457200" y="2238756"/>
          <a:ext cx="11277295" cy="3950210"/>
        </p:xfrm>
        <a:graphic>
          <a:graphicData uri="http://schemas.openxmlformats.org/drawingml/2006/table">
            <a:tbl>
              <a:tblPr/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步骤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关键参数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创作模板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来源拆书、题材类型、黄金三章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生成创意素材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分类、数量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生成世界观规则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分类、数量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分类、数量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分类、数量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总卷数、分类、数量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生成剧情事件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总章节数、分类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生成一条全书大纲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分卷设计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自动依据大纲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不需要手动配置数量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自动订阅分卷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全量生成章节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依赖章节设计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全量生成蓝图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P.104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graphicFrame>
        <p:nvGraphicFramePr>
          <p:cNvPr id="106" name="Table 0"/>
          <p:cNvGraphicFramePr>
            <a:graphicFrameLocks noGrp="1"/>
          </p:cNvGraphicFramePr>
          <p:nvPr/>
        </p:nvGraphicFramePr>
        <p:xfrm>
          <a:off x="457200" y="1453896"/>
          <a:ext cx="11277296" cy="2212848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左侧参数配置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设置每一步分类、数量和额外字段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右侧执行进度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显示设计模块和创作模块的步骤状态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底部提示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说明数量为0、续传、自动展开规则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刷新重置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清空步骤状态，重新生成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开始生成/继续生成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执行管线或从失败处继续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P.105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（参数说明）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graphicFrame>
        <p:nvGraphicFramePr>
          <p:cNvPr id="107" name="Table 0"/>
          <p:cNvGraphicFramePr>
            <a:graphicFrameLocks noGrp="1"/>
          </p:cNvGraphicFramePr>
          <p:nvPr/>
        </p:nvGraphicFramePr>
        <p:xfrm>
          <a:off x="457200" y="1453896"/>
          <a:ext cx="11277295" cy="3163824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54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生成数据要放入哪个分类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优先使用各模块真实存在的分类，例如素材库、世界观规则、角色规则、势力规则、位置规则、剧情规则、故事大纲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支持批量的步骤生成多少条数据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填0表示跳过AI生成，但仍可读取已有数据；创作模板和大纲设计是单次生成，不显示数量输入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创作模板参考来源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选择已保存的拆书分析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题材类型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目标作品类型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必填，影响后续生成方向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黄金三章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前3章爽点策略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根据作品节奏决定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总卷数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剧情规则和分卷规划依据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必填，必须是合理数字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大纲和章节规划依据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必填，决定章节设计规模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P.106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graphicFrame>
        <p:nvGraphicFramePr>
          <p:cNvPr id="108" name="Table 0"/>
          <p:cNvGraphicFramePr>
            <a:graphicFrameLocks noGrp="1"/>
          </p:cNvGraphicFramePr>
          <p:nvPr/>
        </p:nvGraphicFramePr>
        <p:xfrm>
          <a:off x="457200" y="1453896"/>
          <a:ext cx="11277296" cy="193852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点击效果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开始生成/继续生成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执行管线；已有完成、失败或取消状态时按钮显示为继续生成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已完成步骤会自动跳过，从未完成或失败处继续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如果想完全重来，应先刷新重置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刷新重置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清理业务数据并重置步骤状态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弹出两步确认：第一步选择是否包含拆书数据，第二步确认执行；确认后删除对应范围的业务数据并清零所有步骤状态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高风险操作：会删除设计+创作业务数据（可选是否包含拆书），不可恢复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取消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运行中通过全局生成状态取消任务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当前任务停止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已完成步骤保留状态，后续可继续生成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P.107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（完整操作流程）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进入一键直出。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确认模型管理已配置可用模型。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检查第1步创作模板的来源拆书。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49593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填写题材类型。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84327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根据需要选择黄金三章。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190621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为世界观、角色、势力、位置、剧情设置真实存在的分类和数量；默认可使用世界观规则、角色规则、势力规则、位置规则、剧情规则。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78472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在剧情规则步骤填写总卷数。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13207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在大纲设计步骤选择故事大纲并填写总章节数。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479417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检查分卷、章节、蓝图步骤的自动提示；分卷设计隐藏数量和分类，章节与蓝图会订阅真实分卷分类逐卷生成。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073523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点击开始生成。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420868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观察右侧进度和每步状态。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5768213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 如果失败，根据错误修正参数。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115558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13. 点击继续生成。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55868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14. 生成完成后，分别进入设计模块和创作模块检查结果。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55868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15. 进入数据中心重新打包。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P.108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常见陷阱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数量填0不是删除数据，而是跳过AI生成并尝试复用已有数据。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分卷、章节、蓝图不需要手动配置数量，它们依赖前序数据自动展开。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总卷数和总章节数不合理，会导致下游规划畸形。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一键直出不是免审工具，所有生成数据都需要人工检查。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刷新重置会删除业务数据，不只是清空步骤状态。操作前确认清理范围。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P.109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短篇直出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（核心字段）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一键生成 → 短篇直出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短篇直出用于快速生成短篇小说的章节蓝图。它不走完整长篇链路，适合短篇、试写、短故事或小规模项目。</a:t>
            </a:r>
            <a:endParaRPr lang="en-US" sz="15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/>
        </p:nvGraphicFramePr>
        <p:xfrm>
          <a:off x="457200" y="2238756"/>
          <a:ext cx="11277296" cy="294436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陷阱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参考拆书记录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选择相似风格参考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AI生成前必须选择来源拆书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生成多少章蓝图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必须手动填写大于0的数字；填写后会自动生成对应章节行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不填时AI生成按钮不可用；已有蓝图数据时该字段会锁定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题材/类型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短篇题材方向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按UI提示选择明确类别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代码不会像来源拆书和总章节数一样拦截AI生成，但不选会导致风格约束不足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基调/氛围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控制整体情绪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如热血、压抑、轻松、悬疑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太模糊会导致AI不稳定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全篇简介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短篇故事核心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写清主角、目标、冲突、结尾方向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简介太短会导致章节重复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章节蓝图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每章规划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章节标题、主要事件、出场人物、结尾方向；Tab2提供上一章/下一章导航和章节下拉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蓝图太粗会影响正文质量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P.110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短篇直出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294101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进入短篇直出。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在左侧选择真实存在的当前分类，默认内置分类是短篇蓝图库。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选择来源拆书（必选，AI生成前必须选择）。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填写总章节数（必填）。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按UI提示选择题材/类型。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填写基调/氛围。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填写全篇简介。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确认按钮显示为AI单次，点击AI单次并确认生成。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系统会在当前分类下生成一条短篇蓝图数据，并写入对应章节蓝图。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逐章检查蓝图。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修改节奏过快、重复或缺少转折的章节。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手动维护流程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166237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进入短篇直出。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在左侧选择真实存在的当前分类，默认内置分类是短篇蓝图库。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选择来源拆书，填写总章节数、题材/类型、基调/氛围和全篇简介。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手动逐章填写章节蓝图。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P.111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EFA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短篇直出</a:t>
            </a:r>
            <a:r>
              <a:rPr lang="en-US" sz="290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操作效果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6394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生成短篇章节蓝图。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后续可用于人工写作或AI正文生成参考。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86EF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常见陷阱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短篇直出适合短篇，不适合复杂长篇。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未选择来源拆书时，AI生成按钮不会启用。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总章节数越少，越要明确核心冲突和结尾。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不要把短篇蓝图当作完整长篇规划使用。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创意素材与一键生成 · 天命系统  ·  P.112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本章节覆盖五个设计元素入口：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这些数据是后续创作规划和正文生成的核心基础。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中的真实入口规则：选中左侧分类节点时，支持批量的模块按钮显示为AI批量，会弹出批量生成窗口；选中具体数据节点时，按钮显示为AI生成，只补全或重写当前数据。下面的AI生成流程默认指分类级AI批量，不要求先手动新建数据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P.113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53896"/>
            <a:ext cx="11057839" cy="168186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全局设定 → 世界观规则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设计元素 → 角色规则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设计元素 → 势力规则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设计元素 → 位置规则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设计 → 设计元素 → 剧情规则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P.114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全局设定 → 世界观规则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世界观规则定义小说世界最底层的运行规则。它决定什么可以发生、什么不能发生、发生后需要付出什么代价。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P.115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17" name="Table 0"/>
          <p:cNvGraphicFramePr>
            <a:graphicFrameLocks noGrp="1"/>
          </p:cNvGraphicFramePr>
          <p:nvPr/>
        </p:nvGraphicFramePr>
        <p:xfrm>
          <a:off x="457200" y="1453896"/>
          <a:ext cx="11277296" cy="395021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一句话简介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概括世界核心设定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用一句话说明世界最大特色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力量体系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描述能力、等级、代价、限制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写清强弱边界和升级逻辑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宇宙观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描述世界结构、空间、神灵、维度等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不要和力量体系冲突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特殊法则/现象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描述特殊规则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写清触发条件和影响范围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规则约束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不可违反的规则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必须具体，后续校验重点检查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规则约束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可打破但需要解释的规则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写清例外条件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历史/时间线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创世/古代纪元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世界早期历史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写影响现在的关键背景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历史/时间线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关键历史事件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重大转折事件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按时间顺序写更清楚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历史/时间线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近代史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故事开始前较近的历史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关联当前势力格局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历史/时间线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故事开始前的现状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开局时世界状态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写清矛盾和危机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P.116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26441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进入世界观规则。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在左侧选择真实存在的当前分类，默认内置分类是世界观规则。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在弹窗中填写生成数量和单批数量。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点击开始生成。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系统会按当前分类自动生成世界观规则数据，并回填力量体系、宇宙观、规则约束和历史时间线等字段。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生成完成后检查规则边界、代价、历史逻辑和启用状态。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不准确的内容可以手动修正；明显不适合的条目可以删除。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后续修改后进入数据中心重新打包。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315559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进入世界观规则。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选择默认内置分类世界观规则；如需手动细分，可在其下创建自定义子分类。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填写名称和分类。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写一句话简介。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填写力量体系和宇宙观。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写特殊法则。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切到规则约束，填写硬规则和软规则。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切到历史/时间线，补充古代、关键事件、近代史和现状。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后续修改后进入数据中心重新打包。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P.117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硬规则写得太虚，例如“力量不能太离谱”，AI无法执行。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力量体系没有代价，后续战斗容易失控。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多套世界观同时启用且规则冲突，会导致AI不稳定。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P.118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设计元素 → 角色规则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角色规则用于建立角色档案，确保AI在不同章节中保持人物身份、性格、关系、能力和成长一致。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P.119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21" name="Table 0"/>
          <p:cNvGraphicFramePr>
            <a:graphicFrameLocks noGrp="1"/>
          </p:cNvGraphicFramePr>
          <p:nvPr/>
        </p:nvGraphicFramePr>
        <p:xfrm>
          <a:off x="457200" y="1453896"/>
          <a:ext cx="11277296" cy="464515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57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姓名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保持唯一、易识别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主角、配角、反派等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可从下拉选，也可手动输入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角色性别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按作品设定填写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年龄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年龄或年龄段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可写真实年龄或外表年龄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身份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社会身份、职业、阵营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写清角色在世界中的位置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种族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人族、妖族、机械体等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与世界观一致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外貌特征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外形、服饰、辨识点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给正文描写提供依据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性格、说话方式、行为偏好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避免只写“高冷”，要写表现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关联角色姓名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与谁有关系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名称应与角色规则一致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亲友、敌人、师徒、竞争等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写明关系性质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看法/情感动态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对对方的态度变化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适合记录动态关系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关系描述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关系背景和冲突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说明为什么形成这种关系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P.120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22" name="Table 0"/>
          <p:cNvGraphicFramePr>
            <a:graphicFrameLocks noGrp="1"/>
          </p:cNvGraphicFramePr>
          <p:nvPr/>
        </p:nvGraphicFramePr>
        <p:xfrm>
          <a:off x="457200" y="1453896"/>
          <a:ext cx="11277296" cy="395021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人物弧光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Want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角色表面想要的目标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例如复仇、夺权、求生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人物弧光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Need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角色真正需要的成长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例如信任、责任、放下执念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人物弧光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致命缺点/错误信念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阻碍成长的核心问题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应能制造剧情冲突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人物弧光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成长路径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角色如何变化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按阶段描述更稳定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能力技能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战斗技能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战斗能力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写清边界和限制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能力技能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特殊能力/魔法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超常能力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与力量体系一致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能力技能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非战斗技能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医术、谈判、推理等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增加角色功能性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装备资产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标志性装备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代表性装备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可成为剧情线索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装备资产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常规装备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日常物品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用于场景细节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装备资产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个人资产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财富、资源、人脉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影响行动能力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P.121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（Want和Need区别）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23" name="Table 0"/>
          <p:cNvGraphicFramePr>
            <a:graphicFrameLocks noGrp="1"/>
          </p:cNvGraphicFramePr>
          <p:nvPr/>
        </p:nvGraphicFramePr>
        <p:xfrm>
          <a:off x="457200" y="145389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示例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Want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角色以为自己想要的外在目标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主角想成为最强者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Need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角色真正需要完成的内在成长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主角需要学会承担责任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697480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770632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注意：Want负责推动剧情行动，Need负责支撑角色成长。两者混淆会导致角色弧光不清晰。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P.122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2899867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进入角色规则。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在左侧选择真实存在的当前分类，默认内置分类是角色规则。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在弹窗中填写生成数量和单批数量。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点击开始生成。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系统会按当前分类自动产出对应数量的角色规则数据。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生成完成后检查姓名、角色类型、身份、性格、Want、Need、关系网、能力限制和装备资产。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不准确的内容可以手动修正；重复或不适合的角色可以删除。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确认需要参与后续创作的角色为已启用。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进入数据中心重新打包。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26852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进入角色规则。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选择默认内置分类角色规则；如需手动细分，可在其下创建自定义子分类。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点击新建角色数据。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填写姓名、角色类型、性别、年龄。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填写身份、种族、外貌和性格。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切到关系网，填写关键关系。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切到人物弧光，填写Want、Need、缺陷和成长路径。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切到能力技能，填写能力和限制。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切到装备资产，填写重要装备和资产。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P.123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只写人物简介，不写Want/Need，后续角色成长会很弱。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特殊能力没有限制，会破坏剧情冲突。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关系网中的角色名和实际角色不一致，会降低引用效果。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P.124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设计元素 → 势力规则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势力规则用于管理组织、阵营、宗门、家族、王国、商会、秘密组织等集体力量。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P.125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27" name="Table 0"/>
          <p:cNvGraphicFramePr>
            <a:graphicFrameLocks noGrp="1"/>
          </p:cNvGraphicFramePr>
          <p:nvPr/>
        </p:nvGraphicFramePr>
        <p:xfrm>
          <a:off x="457200" y="1453896"/>
          <a:ext cx="11277296" cy="360274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0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宗门、王国、家族、商盟等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可下拉或手动输入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理念/目标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势力追求什么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写清长期目标和当前目标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实力/地盘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资源、军力、影响范围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与位置规则和世界观一致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核心成员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领袖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势力领导者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最好关联已有角色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核心成员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核心成员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关键人物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每行或分条写清职责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核心成员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成员特征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共同行事风格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让AI写群体时保持一致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对外关系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盟友势力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合作势力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输入势力名称，每行一个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对外关系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敌对势力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冲突对象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冲突应与剧情规则对应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0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对外关系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中立/竞争关系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非敌非友的关系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适合复杂政治格局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P.126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2899867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先确认角色规则中已有可用角色，尤其是可能作为领袖和核心成员的角色。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进入势力规则。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在左侧选择真实存在的当前分类，默认内置分类是势力规则。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在弹窗中填写生成数量和单批数量。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点击开始生成。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系统会按当前分类自动产出势力规则数据，并结合已有角色生成领袖、核心成员和对外关系。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生成完成后检查势力目标、实力地盘、领袖、盟友、敌人和中立竞争关系。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不准确的引用可以手动修正；重复或冲突势力可以删除。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确认需要参与后续创作的势力为已启用。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242956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先创建关键角色，尤其是领袖和核心成员。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进入势力规则。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选择默认内置分类势力规则；如需手动细分，可在其下创建自定义子分类。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新建势力数据。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填写势力类型、目标、实力和地盘。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填写领袖和核心成员。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补充成员特征。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填写盟友、敌人和中立竞争者。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P.127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势力目标为空，后续冲突会缺少驱动力。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领袖没有角色规则支撑，AI无法稳定写人物表现。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盟友和敌人关系互相矛盾，会在剧情推进中出错。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P.128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设计元素 → 位置规则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位置规则用于管理故事发生的地点。它不仅是地名，还包含规模、环境、资源、危险、历史和所属势力。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P.129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31" name="Table 0"/>
          <p:cNvGraphicFramePr>
            <a:graphicFrameLocks noGrp="1"/>
          </p:cNvGraphicFramePr>
          <p:nvPr/>
        </p:nvGraphicFramePr>
        <p:xfrm>
          <a:off x="457200" y="1453896"/>
          <a:ext cx="11277296" cy="395021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591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区域、城市、自然地貌、建筑、特殊空间等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按故事用途选择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规模/范围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地点大小和范围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写清可活动范围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位置描述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总体介绍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包含视觉特征和功能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地理特征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地形/环境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山川、平原、森林、海洋等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给场景描写提供依据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地理特征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气候特征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温度、降水、季节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影响行动和氛围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地理特征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标志性建筑/地标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著名建筑或景观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方便AI制造辨识度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地理特征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特产/资源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矿产、药材、物品等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可成为剧情动机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故事关联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历史意义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该地点过去发生过什么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关联世界观历史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故事关联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危险/禁忌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危险区域或规则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用于制造冲突和限制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故事关联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所属势力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可下拉选择或输入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P.130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176377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先确认势力规则中已有可用势力，便于地点关联所属势力。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进入位置规则。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在左侧选择真实存在的当前分类，默认内置分类是位置规则。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在弹窗中填写生成数量和单批数量。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点击开始生成。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系统会按当前分类自动产出位置规则数据，并尽量关联已有势力。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生成完成后检查位置类型、规模、环境、资源、危险禁忌和所属势力。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不准确的引用可以手动修正；重复或无用地点可以删除。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确认需要参与后续创作的位置为已启用。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76377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先建立相关势力。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进入位置规则。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选择默认内置分类位置规则；如需手动细分，可在其下创建自定义子分类。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新建位置数据。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选择位置类型。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填写规模和描述。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补充地形、气候、地标和资源。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填写历史意义和危险禁忌。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选择所属势力。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只写地名，不写环境和危险，AI场景会空泛。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所属势力没有对应势力规则，后续政治关系容易断裂。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资源太强但没有限制，会破坏世界平衡。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P.131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设计 → 设计元素 → 剧情规则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剧情规则用于定义事件、冲突、参与方、流程和影响。它是大纲、分卷、章节规划的重要输入。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P.132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34" name="Table 0"/>
          <p:cNvGraphicFramePr>
            <a:graphicFrameLocks noGrp="1"/>
          </p:cNvGraphicFramePr>
          <p:nvPr/>
        </p:nvGraphicFramePr>
        <p:xfrm>
          <a:off x="457200" y="1453896"/>
          <a:ext cx="11277296" cy="4773171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71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总卷数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后续按多少卷规划，并生成“所属卷”下拉选项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AI生成前必须填写大于0的数字；保存本身只校验名称，但不填会影响后续规划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所属卷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事件归属哪一卷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与总卷数保持一致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主线、支线、伏笔、高潮等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类型越明确越好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所属阶段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开局、中段、转折、收束等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帮助控制节奏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一句话简介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概括事件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写清核心冲突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前置条件/触发方式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事件如何发生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避免无因无果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参与方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主要角色/视点角色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事件核心角色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应关联角色规则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参与方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关键NPC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重要配角或临时角色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写明功能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参与方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发生地点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应关联位置规则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参与方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时间/持续时长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时间点和持续长度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保持时间线一致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情节流程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步骤标题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当前事件步骤名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简洁明确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情节流程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角色或势力目标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推动行动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P.133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graphicFrame>
        <p:nvGraphicFramePr>
          <p:cNvPr id="135" name="Table 0"/>
          <p:cNvGraphicFramePr>
            <a:graphicFrameLocks noGrp="1"/>
          </p:cNvGraphicFramePr>
          <p:nvPr/>
        </p:nvGraphicFramePr>
        <p:xfrm>
          <a:off x="457200" y="1453896"/>
          <a:ext cx="11277296" cy="290779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3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情节流程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阻力和矛盾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剧情张力来源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情节流程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影响后续章节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情节流程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情绪曲线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控制读者体验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对主线故事的推动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事件如何推进主线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避免支线游离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对角色成长的影响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改变了谁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关联角色弧光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对世界观信息的揭示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暴露哪些设定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控制信息投放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事件影响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获得的物品/奖励/新线索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事件产出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可成为后续伏笔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P.134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315559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先确认世界观、角色、势力和位置规则已有可用数据。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进入剧情规则。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在左侧选择真实存在的当前分类，默认内置分类是剧情规则。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填写总卷数；这是剧情规则AI生成前的必要约束。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确认按钮显示为AI批量，点击AI批量。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在弹窗中填写生成数量和单批数量。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点击开始生成。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系统会按当前分类自动产出剧情事件，并尽量关联已有角色、势力和位置。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生成完成后检查所属卷、事件类型、触发条件、参与方、目标、冲突、结果和事件影响。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不准确的引用可以手动修正；重复或与主线冲突的事件可以删除。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确认需要参与后续创作的剧情规则为已启用。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294101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先建立世界观、角色、位置和势力。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进入剧情规则。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选择默认内置分类剧情规则；如需手动细分，可在其下创建自定义子分类。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新建剧情事件。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填写总卷数（AI生成前必须填写）。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填写所属卷、事件类型和阶段。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写一句话简介和触发条件。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填写参与角色、NPC、地点和时间。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填写情节步骤、目标、冲突、结果和情绪曲线。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填写事件对主线、角色、世界观和线索的影响。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P.135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世界观、角色、势力、位置、剧情规则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</a:t>
            </a:r>
            <a:r>
              <a:rPr lang="en-US" sz="290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A7F3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7F3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总卷数漏填会导致AI生成按钮不可用，也会影响后续大纲和分卷生成。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事件没有触发条件，会变成机械推进。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只有目标没有冲突，章节会缺少张力。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事件影响不明确，后续章节无法承接。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剧情规则与角色Want/Need矛盾，会导致角色行为不可信。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五大设计规则 · 天命系统  ·  P.136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创作模块负责把设计模块中的世界观、角色、势力、位置、剧情等基础设定，转化为可执行的全书规划、分卷规划、章节规划、场景蓝图和AI上下文包。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注意：创作台正式生成正文时，核心依据不是右侧聊天窗口的连续对话，而是数据中心打包后的章节上下文。章节生成指令会按章节ID加载打包数据、事实快照和前文状态，再进入独立业务会话执行。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P.137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当前业务入口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39" name="Table 0"/>
          <p:cNvGraphicFramePr>
            <a:graphicFrameLocks noGrp="1"/>
          </p:cNvGraphicFramePr>
          <p:nvPr/>
        </p:nvGraphicFramePr>
        <p:xfrm>
          <a:off x="457200" y="1453896"/>
          <a:ext cx="11277295" cy="256032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定义全书总章节数、主题、核心冲突、结局和结构规划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分卷设计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把全书拆成卷，设置每卷章节范围、主题、冲突和出场实体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把每卷拆成章节，设置每章目标、转折、钩子、信息投放和实体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创作元素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按每章一条蓝图设置起承转合、视角角色和要素清单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正文配置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数据中心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统一启用/禁用模块、重新打包上下文、清理缓存和查看打包历史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正文配置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章节预览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按卷查看章节规划、实体引用、章节信息和蓝图场景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P.138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推荐使用顺序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先确保设计模块已有可用数据。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进入大纲设计，在默认内置分类故事大纲下填写总章节数并点击AI单次，生成一条全书大纲。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395347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进入分卷设计，在默认内置分类分卷规划下执行AI批量生成；系统会根据大纲和剧情规则自动计算分卷数量与章节范围。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989453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进入章节设计，选择真实存在的当前分卷分类后执行AI批量生成；系统会按该分卷范围生成章节。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583559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进入蓝图设计，选择真实存在的当前分卷分类后执行AI批量生成；系统会按章节范围每章生成一条蓝图。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4177665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进入章节预览检查结构是否完整。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4525010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进入数据中心重新打包。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872355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回到创作台，切换到Agent模式后输入“生成第X章”或“生成第N卷第M章”。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546646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如果要多章计划或@仿写，切换到Plan模式。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81380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等待系统自动生成、校验、重写和保存。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P.139</a:t>
            </a:r>
            <a:endParaRPr lang="en-US" sz="1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创作模块和设计模块的区别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41" name="Table 0"/>
          <p:cNvGraphicFramePr>
            <a:graphicFrameLocks noGrp="1"/>
          </p:cNvGraphicFramePr>
          <p:nvPr/>
        </p:nvGraphicFramePr>
        <p:xfrm>
          <a:off x="457200" y="145389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负责什么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示例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定义世界、角色、势力、位置、剧情规则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主角是谁、世界规则是什么、势力目标是什么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创作模块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定义这本书怎么展开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全书多少章、每卷讲什么、每章目标是什么、每章蓝图怎么执行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697480"/>
            <a:ext cx="11277295" cy="758698"/>
          </a:xfrm>
          <a:prstGeom prst="roundRect">
            <a:avLst>
              <a:gd name="adj" fmla="val 723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770632"/>
            <a:ext cx="10948111" cy="6489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没有设计数据也能写大纲，但AI会缺少约束；没有创作规划也能写正文，但正式章节生成仍会优先要求打包上下文完整。蓝图不是唯一输入，系统还会读取章节计划、分卷、大纲、设计数据、事实快照、前章摘要、远距召回等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P.140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正文生成真实链路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42" name="Table 0"/>
          <p:cNvGraphicFramePr>
            <a:graphicFrameLocks noGrp="1"/>
          </p:cNvGraphicFramePr>
          <p:nvPr/>
        </p:nvGraphicFramePr>
        <p:xfrm>
          <a:off x="457200" y="1453896"/>
          <a:ext cx="11277296" cy="431596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79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阶段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系统动作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用户看到什么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失败时结果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模式路由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根据Agent/Plan/Edit和用户输入判断是否进入生成链路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模式不匹配时提示或转为普通问答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Edit模式会阻止正式章节生成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解析指令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从“生成第X章”、@chapter、@重写、@续写解析章节ID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对话区开始执行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章节不唯一或不存在会提示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前置检查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检查章节是否已存在、是否按顺序生成、是否有未打包变更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可能提示先重新打包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不满足条件时拦截，不写文件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构建上下文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读取数据中心打包出的ContentGuide、ContextIds、FactSnapshot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进度显示加载上下文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上下文缺失则失败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调用写作模型生成正文和CHANGES块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进度显示生成中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AI失败会内部重试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Gate校验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校验CHANGES协议、事实一致性、未知实体、世界观硬规则、蓝图合规、字数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进度显示校验中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不通过会自动重写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自动重写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把失败原因反馈给模型重新生成或只重写CHANGES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进度显示重写中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超过最大次数提示人工介入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落盘保存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清洗正文、写入章节文件、更新追踪Guide、摘要、关键词、向量索引、里程碑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提示章节已保存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落盘失败会回滚或保留WAL修复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P.141</a:t>
            </a:r>
            <a:endParaRPr lang="en-US" sz="1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落盘内容为什么相对连贯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05039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正文必须带有效CHANGES块，系统会拆出正文和变更摘要。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GenerationGate会检查角色状态、冲突进度、伏笔、地点、势力、时间线、物品、秘密等变更是否符合已有事实。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如果正文引入过多未登记实体、违反世界观硬规则、缺少关键蓝图实体、字数严重不达标，会触发重写。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已存在章节被重写时，会先清理旧追踪数据，再写入新的追踪状态。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保存成功后会更新章节摘要、关键词索引、向量索引和卷里程碑，为后续章节提供连续状态。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创作模块最重要的陷阱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205039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修改大纲、分卷、章节、蓝图后没有重新打包，正式生成会被拦截或读取旧规划。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只生成大纲，不生成章节和蓝图，AI写正文时会缺少执行细节，但不代表系统只看蓝图。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分卷章节范围重叠或断裂，会导致章节预览和蓝图生成混乱。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章节有目标但没有阻力、转折和钩子，正文会缺少戏剧张力。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蓝图场景太粗，蓝图合规检查能发现一部分实体缺失，但不能替代人工对节奏和文风的判断。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创作模块总览 · 天命系统  ·  P.142</a:t>
            </a:r>
            <a:endParaRPr lang="en-US" sz="10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本章节覆盖：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P.143</a:t>
            </a:r>
            <a:endParaRPr lang="en-US" sz="10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53896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全书设定 → 大纲设计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创作元素 → 分卷设计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创作元素 → 章节设计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创作元素 → 蓝图设计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P.144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全书设定 → 大纲设计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大纲设计定义全书最高层规划。它决定这本书总共多少章、核心卖点是什么、情绪基调是什么、最终要到达什么状态。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P.145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47" name="Table 0"/>
          <p:cNvGraphicFramePr>
            <a:graphicFrameLocks noGrp="1"/>
          </p:cNvGraphicFramePr>
          <p:nvPr/>
        </p:nvGraphicFramePr>
        <p:xfrm>
          <a:off x="457200" y="1453896"/>
          <a:ext cx="11277296" cy="373075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决定后续分卷和章节规模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AI生成前必须填写大于0的数字；保存本身只校验名称，但不填会影响下游规划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一句话大纲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概括全书主线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写清主角、目标、冲突和结果方向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情感基调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控制全书情绪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如热血、克制、黑暗、轻松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哲学母题/核心辩题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控制作品深层表达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如自由与秩序、复仇与救赎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主题内核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主题思想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作品想表达什么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不要只写口号，要能落到剧情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主题内核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全书最大矛盾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应能贯穿多数卷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主题内核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结局/目标状态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最终局面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便于AI保持方向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结构规划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卷/幕划分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全书分为几个阶段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与总章节数和分卷设计对应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结构规划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大纲总览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全书完整概述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写清每个阶段推进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P.146</a:t>
            </a:r>
            <a:endParaRPr lang="en-US" sz="1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AI生成流程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4989424" cy="311444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进入大纲设计。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在左侧选择真实存在的当前分类，默认内置分类是故事大纲。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填写总章节数；总章节数是AI生成前的必要约束。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确认按钮显示为AI单次，点击AI单次。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在生成确认弹窗中点击确认生成。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系统会在当前分类下生成一条大纲数据，包含一句话大纲、情感基调、哲学母题、主题思想、核心冲突、结局状态、卷/幕划分和大纲总览。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如果已经新建或选中某条大纲数据，也可以点击AI生成补全当前数据。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检查卷/幕划分是否能被下游解析，章节范围是否连续且总和等于总章节数。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修正不准确内容后保存并启用。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后续生成分卷设计。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操作流程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294101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进入大纲设计。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选择默认内置分类故事大纲；如需手动细分，可在其下创建自定义子分类。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点击新建。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填写名称、分类、状态。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手动填写总章节数（AI生成前必须填写）。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填写一句话大纲。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填写情感基调和哲学母题。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切到主题内核，填写主题、核心冲突和结局状态。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切到结构规划，填写卷/幕划分和大纲总览。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后续生成分卷设计。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P.147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10765231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总章节数不填会导致AI生成按钮不可用，也会让分卷设计无法稳定计算章节范围。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大纲只写“主角变强”，缺少目标、阻力和结局方向。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结局状态不清，后期规划容易跑偏。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P.148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创作元素 → 分卷设计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分卷设计把全书拆成阶段。每卷都有自己的章节范围、主题、阶段目标、主冲突、关键事件和出场实体。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P.149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51" name="Table 0"/>
          <p:cNvGraphicFramePr>
            <a:graphicFrameLocks noGrp="1"/>
          </p:cNvGraphicFramePr>
          <p:nvPr/>
        </p:nvGraphicFramePr>
        <p:xfrm>
          <a:off x="457200" y="1453896"/>
          <a:ext cx="11277296" cy="464515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57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卷序号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第几卷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用数字，保持连续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能体现阶段主题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起始章节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本卷开始章节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与其他卷不重叠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结束章节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本卷结束章节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不要断章或交叉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卷主题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本卷表达重点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对应全书主题的一部分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卷定位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卷阶段目标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本卷主角要达成什么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要可执行、可检查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卷主冲突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本卷最大冲突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贯穿本卷多数章节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对抗源/压力来源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阻力来自哪里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可以是反派、规则、资源、时间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关键转折/大事件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重要剧情节点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按顺序列出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卷开篇状态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本卷开头局面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与上一卷结尾衔接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关键节点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卷收束状态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本卷结束局面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为下一卷提供承接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章节分配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章节分配总览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章节如何分布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写清每段章节负责什么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P.150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52" name="Table 0"/>
          <p:cNvGraphicFramePr>
            <a:graphicFrameLocks noGrp="1"/>
          </p:cNvGraphicFramePr>
          <p:nvPr/>
        </p:nvGraphicFramePr>
        <p:xfrm>
          <a:off x="457200" y="1453896"/>
          <a:ext cx="11277296" cy="2212848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章节分配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剧情分配（结构化）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剧情事件如何落到章节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可按章节区间分配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章节分配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章节生成提示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给章节生成的特殊要求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写节奏、重点、禁忌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本卷出现的角色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名称应来自角色规则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本卷涉及势力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名称应来自势力规则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本卷涉及地点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名称应来自位置规则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P.151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（AI生成流程）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先完成并启用大纲设计，确保总章节数有效。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确认剧情规则中已填写统一的总卷数。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进入分卷设计。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49593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在左侧选择真实存在的当前分类，默认内置分类是分卷规划。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84327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确认按钮显示为AI批量，点击AI批量。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190621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系统会根据大纲总章节数、剧情规则总卷数和大纲卷/幕划分自动计算分卷数量与章节范围。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784727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在批量重建确认弹窗中检查分卷数量、总章节数、已完成数量和待生成数量。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378833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点击确认开始生成。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726178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系统自动生成每卷的卷序号、起止章节、卷主题、阶段目标、主冲突、关键事件和出场实体。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320284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生成完成后检查章节范围是否连续、卷目标是否清楚、实体引用是否正确。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67629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修改不准确内容，确认需要参与后续创作的分卷为已启用。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P.152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6852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先完成大纲设计。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进入分卷设计。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选择默认内置分类分卷规划；如需手动维护，可按大纲创建分卷数据。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填写卷序号、标题、起始章节和结束章节。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填写卷主题和阶段目标。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写清主冲突、压力来源、关键事件。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填写开篇状态和收束状态。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完成章节分配总览和剧情分配。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填写出场角色、势力、地点。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起始章节和结束章节重叠，会导致章节归属混乱。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只写卷主题，不写压力来源，后续章节缺少冲突。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出场实体不对应设计模块中的正式名称，AI引用效果变差。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P.153</a:t>
            </a:r>
            <a:endParaRPr lang="en-US" sz="1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创作 → 创作元素 → 章节设计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章节设计把分卷拆成单章目标。每章应该明确讲什么、遇到什么阻力、发生什么转折、结尾用什么钩子，以及投放哪些信息。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P.154</a:t>
            </a:r>
            <a:endParaRPr lang="en-US" sz="10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56" name="Table 0"/>
          <p:cNvGraphicFramePr>
            <a:graphicFrameLocks noGrp="1"/>
          </p:cNvGraphicFramePr>
          <p:nvPr/>
        </p:nvGraphicFramePr>
        <p:xfrm>
          <a:off x="457200" y="1453896"/>
          <a:ext cx="11277296" cy="4773171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71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章节序号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第几章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用数字，保持连续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所属卷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归属哪一卷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与分卷设计一致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简洁体现事件或情绪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章节主题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本章核心主题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说明本章要解决什么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本章主目标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主角或剧情目标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目标要可执行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读者体验目标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希望读者在本章获得的情绪或期待（此字段由AI生成回填，界面上无编辑控件）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如紧张、爽感、悬疑、压抑、释然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冲突与转折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阻力来源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谁或什么阻止目标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冲突来源越清楚越好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冲突与转折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关键转折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本章变化点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必须改变局面或认知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冲突与转折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结尾钩子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章节结尾吸引点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可设置悬念、反转、危机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世界观信息投放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本章透露的设定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不要一次塞太多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角色弧光推进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角色成长变化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对应角色Want/Need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主线推进点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对主线的贡献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避免水章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P.155</a:t>
            </a:r>
            <a:endParaRPr lang="en-US" sz="10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57" name="Table 0"/>
          <p:cNvGraphicFramePr>
            <a:graphicFrameLocks noGrp="1"/>
          </p:cNvGraphicFramePr>
          <p:nvPr/>
        </p:nvGraphicFramePr>
        <p:xfrm>
          <a:off x="457200" y="1453896"/>
          <a:ext cx="11277296" cy="1865376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伏笔埋设/回收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本章伏笔动作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写清埋设还是回收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尽量来自分卷实体池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与剧情冲突对应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与位置规则对应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P.156</a:t>
            </a:r>
            <a:endParaRPr lang="en-US" sz="10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（AI生成流程）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先完成并启用分卷设计。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进入章节设计。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在左侧选择真实存在的当前分卷分类；章节设计没有独立内置分类，当前分类来自分卷设计中的实际分卷。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74269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确认按钮显示为AI批量，点击AI批量。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09003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系统会根据当前分卷的起止章节自动计算本卷需要生成的章节数量。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43738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在批量重建确认弹窗中检查章节范围、已完成数量和待生成数量。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78472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点击确认开始生成。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132072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系统自动生成章节序号、所属卷、章节标题、章节主题、本章主目标、读者体验目标、阻力、转折、钩子和出场实体。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726178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生成完成后检查章节号是否连续、目标和阻力是否明确、结尾钩子是否有效。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320284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修改不准确内容，确认需要参与后续创作的章节为已启用。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67629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后续进入蓝图设计。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P.157</a:t>
            </a:r>
            <a:endParaRPr lang="en-US" sz="10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899867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先完成分卷设计。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进入章节设计。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按分卷创建或生成章节。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填写章节序号、所属卷、章节标题。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写章节主题和主目标；读者体验目标由AI生成回填，界面上无手工编辑控件。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写阻力来源、关键转折和结尾钩子。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补充世界信息、角色弧光、主线推进和伏笔。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填写出场角色、势力和地点。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后续进入蓝图设计。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章节只有事件，没有目标和阻力，正文会变成流水账。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只有剧情目标，没有读者体验目标，AI容易只完成事件而缺少情绪曲线。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每章都投放大量世界观，节奏会变慢。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结尾钩子缺失，会削弱追读。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P.158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创作元素 → 蓝图设计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5208880" cy="74980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蓝图设计是正文生成前的重要规划层。当前实现按“每章一条蓝图”保存，蓝图内的场景字段用于描述本章的核心执行结构：从哪里开始、如何发展、在哪里转折、如何收束。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注意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79312" y="1938528"/>
            <a:ext cx="5208880" cy="96926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章节生成不是只读取蓝图。系统会同时读取数据中心打包出的章节计划、分卷、大纲、设计数据、事实快照、前文摘要和远距召回。蓝图越完整，场景执行越稳定；蓝图缺失时，系统仍可能按其他上下文生成，但稳定性和可控性会下降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P.159</a:t>
            </a:r>
            <a:endParaRPr lang="en-US" sz="10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61" name="Table 0"/>
          <p:cNvGraphicFramePr>
            <a:graphicFrameLocks noGrp="1"/>
          </p:cNvGraphicFramePr>
          <p:nvPr/>
        </p:nvGraphicFramePr>
        <p:xfrm>
          <a:off x="457200" y="1453896"/>
          <a:ext cx="11277296" cy="4773171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671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关联章节ID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蓝图对应哪一章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格式提示为vol{卷号}_ch{章号}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本章结构一句话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概括本章结构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说明本章从什么到什么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蓝图概览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节奏/强度曲线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本章强度变化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写清开场、中段、高潮、收束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场景序号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蓝图记录序号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批量生成时按章节ID顺序分配；手工填写时保持连续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本章蓝图标题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简洁说明本章场景功能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视角角色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POV角色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应来自出场角色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起（开场）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场景如何开始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写清地点、人物、冲突入口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承（发展）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场景如何推进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写行动、对话、压力升级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转（转折）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场景变化点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必须制造新信息或局面变化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合（结尾）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场景如何结束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承接下一场景或章节钩子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出场角色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本章/场景角色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保持与章节设计一致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7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对应位置规则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P.160</a:t>
            </a:r>
            <a:endParaRPr lang="en-US" sz="1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graphicFrame>
        <p:nvGraphicFramePr>
          <p:cNvPr id="162" name="Table 0"/>
          <p:cNvGraphicFramePr>
            <a:graphicFrameLocks noGrp="1"/>
          </p:cNvGraphicFramePr>
          <p:nvPr/>
        </p:nvGraphicFramePr>
        <p:xfrm>
          <a:off x="457200" y="1453896"/>
          <a:ext cx="11277296" cy="1517904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填写建议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相关势力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对应势力规则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场景信息投放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需要透露的信息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控制信息量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要素清单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关键道具/线索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道具、线索、伏笔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便于正文埋设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P.161</a:t>
            </a:r>
            <a:endParaRPr lang="en-US" sz="1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（AI生成流程）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先完成并启用章节设计。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801241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进入蓝图设计。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48586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在左侧选择真实存在的当前分卷分类；蓝图设计没有独立内置分类，当前分类来自分卷设计中的实际分卷。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74269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确认按钮显示为AI批量，点击AI批量。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09003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系统会校验当前分卷的章节设计是否已覆盖完整范围。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43738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校验通过后，系统按当前分卷章节范围计算蓝图数量，每章生成一条蓝图。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784727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在批量重建确认弹窗中检查章节范围、已完成数量和待生成数量。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132072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点击确认开始生成。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479417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系统自动生成关联章节ID、本章结构一句话、节奏曲线、起承转合、出场角色、地点、势力、信息投放和线索。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5073523"/>
            <a:ext cx="5478628" cy="5666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生成完成后检查蓝图是否覆盖每章，起承转合是否清楚，实体是否与章节设计一致。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5667629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修改不准确内容，确认需要参与后续创作的蓝图为已启用。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014974"/>
            <a:ext cx="5478628" cy="31991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 进入数据中心重新打包。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P.162</a:t>
            </a:r>
            <a:endParaRPr lang="en-US" sz="10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BF7D0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大纲、分卷、章节、蓝图设计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蓝图设计</a:t>
            </a:r>
            <a:r>
              <a:rPr lang="en-US" sz="290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BBF7D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6852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先完成章节设计。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进入蓝图设计。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选择关联章节ID。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填写本章结构一句话和节奏曲线。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创建或生成蓝图记录；批量生成时系统按章节范围生成每章一条蓝图。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填写场景序号、标题和视角角色。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按起、承、转、合填写场景内容。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补充出场角色、地点、势力、信息投放和线索。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保存并启用。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进入数据中心重新打包。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BF7D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BBF7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蓝图太粗，例如只写“主角战斗胜利”，AI会自由发挥。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场景没有转折，正文会平。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POV角色与出场角色不一致，视角容易混乱。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蓝图修改后不打包，创作台读取不到最新场景规划。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大纲·分卷·章节·蓝图 · 天命系统  ·  P.163</a:t>
            </a:r>
            <a:endParaRPr lang="en-US" sz="10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本章节覆盖：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P.164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53896"/>
            <a:ext cx="11057839" cy="74955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正文配置 → 数据中心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正文配置 → 章节预览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P.165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正文配置 → 数据中心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089099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数据中心负责把已启用的设计数据和创作规划编译成AI可读取的上下文包。它是“修改业务数据”和“创作台AI真正读取数据”之间的桥梁。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危险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379312" y="186537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只保存数据不等于AI已经知道。修改世界观、角色、大纲、章节或蓝图后，必须重新打包。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注意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03504" y="435711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正式章节生成会检查已启用模块是否存在未打包变更。如果有变更，系统会阻止生成并提示先重新打包，避免用旧设定写新正文。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P.166</a:t>
            </a:r>
            <a:endParaRPr lang="en-US" sz="10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68" name="Table 0"/>
          <p:cNvGraphicFramePr>
            <a:graphicFrameLocks noGrp="1"/>
          </p:cNvGraphicFramePr>
          <p:nvPr/>
        </p:nvGraphicFramePr>
        <p:xfrm>
          <a:off x="457200" y="145389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用户关注点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模块分组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按设计和生成模块分组展示卡片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查看哪些模块启用、哪些有变更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模块卡片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显示模块名称、数据条数、状态、是否有变更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双击可跳转到模块，状态可切换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状态汇总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显示变更项、上次打包时间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有变更时建议重新打包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操作按钮区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清除打包、重新打包、全局清理、打包历史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注意高风险按钮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P.167</a:t>
            </a:r>
            <a:endParaRPr lang="en-US" sz="10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（模块卡片说明）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69" name="Table 0"/>
          <p:cNvGraphicFramePr>
            <a:graphicFrameLocks noGrp="1"/>
          </p:cNvGraphicFramePr>
          <p:nvPr/>
        </p:nvGraphicFramePr>
        <p:xfrm>
          <a:off x="457200" y="1453896"/>
          <a:ext cx="11277295" cy="256032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信息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处理方式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DisplayName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模块名称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如角色规则、章节设计、蓝图设计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ItemCountText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数据条数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为空或0说明该模块没有可用数据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StatusText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当前是否有变更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有变更时需要重新打包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已启用/已禁用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是否参与打包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不希望进入AI上下文的模块可禁用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跳转到模块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打开对应业务页面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方便修正数据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刷新状态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重新读取模块状态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修改后状态不准时使用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P.168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70" name="Table 0"/>
          <p:cNvGraphicFramePr>
            <a:graphicFrameLocks noGrp="1"/>
          </p:cNvGraphicFramePr>
          <p:nvPr/>
        </p:nvGraphicFramePr>
        <p:xfrm>
          <a:off x="457200" y="1453896"/>
          <a:ext cx="11277296" cy="212141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24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点击后发生什么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424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重新打包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编译当前启用模块数据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生成新的上下文包、ContextIds、内容指导文件和版本状态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正常操作，修改数据后必须执行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4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清除打包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清除打包文件、已生成章节、向量索引和历史记录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会触发不可恢复确认，不是普通刷新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极高风险，普通修改不要使用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4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全局清理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清理AI会话上下文缓存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解决对话卡顿或缓存异常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不应当作常规重置按钮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4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打包历史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查看历史打包版本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打开历史记录窗口，可查看差异或恢复历史版本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恢复版本会回滚配置和指导文件，不会回滚已写章节正文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P.169</a:t>
            </a:r>
            <a:endParaRPr lang="en-US" sz="10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完整操作流程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176377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完成设计模块和创作模块数据。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进入数据中心。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检查模块卡片是否有数据。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确认需要参与AI上下文的模块为启用状态。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如果某个模块显示有变更，准备重新打包。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系统会先执行一次全局清理，再打包已启用模块。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等待完成提示。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查看上次打包时间是否更新。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回到创作台执行AI写作或修改。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重新打包可能失败的情况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09575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已有打包任务正在执行，本次请求会被拒绝。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必要业务缺少构建数据，系统会提示哪些子模块或功能缺失。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分卷、章节或末章配置不完整，无法构建稳定上下文。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预检或完整性校验未通过，staging产物会被丢弃，原打包数据不受影响。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源数据文件读取失败时会出现打包数据警告；系统会跳过失败文件继续打包，需根据提示回到对应模块修复。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常见陷阱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10820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看到模块有数据，但模块是禁用状态，AI不会读取。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修改了蓝图但没有重新打包，正式生成会被拦截或仍按旧包写。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清除打包不是“刷新”，它会清除打包文件、已生成章节、向量索引和历史记录；除严重异常外不要使用。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重新打包会自动做一次全局清理；单独点全局清理主要用于缓存异常，不等于业务数据清理。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P.170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（功能作用）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入口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→ 创作 → 正文配置 → 章节预览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5208880" cy="74980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章节预览用于集中检查分卷、章节、相关实体和蓝图场景。它读取的是数据中心打包后生成的ContentGuide，是写正文前的检查页，不是主要编辑页。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注意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如果没有打包产物，刷新章节预览会提示先在数据中心执行打包操作。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P.171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73" name="Table 0"/>
          <p:cNvGraphicFramePr>
            <a:graphicFrameLocks noGrp="1"/>
          </p:cNvGraphicFramePr>
          <p:nvPr/>
        </p:nvGraphicFramePr>
        <p:xfrm>
          <a:off x="457200" y="1453896"/>
          <a:ext cx="11277296" cy="2907792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3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左侧搜索框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左侧章节树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按卷展示章节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显示总卷数和总章节数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右侧当前章节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显示章节编号和标题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右侧涉及实体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显示角色、地点、势力、剧情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右侧章节信息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显示主题、目标、转折、钩子、世界信息、角色弧、伏笔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右侧场景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显示蓝图场景、视角、目的、起承转合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P.172</a:t>
            </a:r>
            <a:endParaRPr lang="en-US" sz="1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74" name="Table 0"/>
          <p:cNvGraphicFramePr>
            <a:graphicFrameLocks noGrp="1"/>
          </p:cNvGraphicFramePr>
          <p:nvPr/>
        </p:nvGraphicFramePr>
        <p:xfrm>
          <a:off x="457200" y="1453896"/>
          <a:ext cx="11277295" cy="464515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57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总卷数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打包产物结合分卷设计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判断当前预览覆盖的卷规模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总章节数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打包后的ContentGuide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判断当前打包产物包含多少章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涉及角色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章节设计/蓝图设计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检查角色是否匹配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涉及地点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章节设计/蓝图设计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检查场景地点是否存在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涉及势力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章节设计/蓝图设计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检查冲突阵营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涉及剧情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剧情规则引用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检查剧情承接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章节主题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确认本章核心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主要目标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确认本章行动方向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关键转折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确认剧情变化点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钩子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确认结尾吸引力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控制信息投放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角色弧进展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检查成长推进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P.173</a:t>
            </a:r>
            <a:endParaRPr lang="en-US" sz="10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graphicFrame>
        <p:nvGraphicFramePr>
          <p:cNvPr id="175" name="Table 0"/>
          <p:cNvGraphicFramePr>
            <a:graphicFrameLocks noGrp="1"/>
          </p:cNvGraphicFramePr>
          <p:nvPr/>
        </p:nvGraphicFramePr>
        <p:xfrm>
          <a:off x="457200" y="1453896"/>
          <a:ext cx="11277295" cy="117043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伏笔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检查伏笔埋设/回收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蓝图设计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检查正文执行说明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P.174</a:t>
            </a:r>
            <a:endParaRPr lang="en-US" sz="10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BA74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</a:t>
            </a:r>
            <a:r>
              <a:rPr lang="en-US" sz="290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操作流程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6852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完成大纲、分卷、章节和蓝图设计。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进入章节预览。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在左侧展开卷。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选择目标章节。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检查右侧当前章节标题和编号。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检查涉及角色、地点、势力、剧情是否完整。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检查章节主题、目标、转折、钩子和伏笔。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检查场景起承转合是否足够明确。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发现问题后回到章节设计或蓝图设计修复。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修复后进入数据中心重新打包。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DBA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常见陷阱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58008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章节预览为空，核心原因是没有可读取的打包产物：未在数据中心执行打包，或打包失败导致ContentGuide没有生成章节信息。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场景为空说明当前打包产物中的该章节没有场景信息，通常需要回到蓝图设计补全并重新打包。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章节有目标但没有关键转折，正文容易平铺直叙。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预览页不是主要编辑页，修改应回到对应业务模块。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数据中心与章节预览 · 天命系统  ·  P.175</a:t>
            </a:r>
            <a:endParaRPr lang="en-US" sz="10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校验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校验模块用于检查设计、规划和正文之间是否存在冲突。它不是写作模块，也不是自动修稿机器，而是帮助用户发现问题、定位问题、修复问题。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P.176</a:t>
            </a:r>
            <a:endParaRPr lang="en-US" sz="10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当前业务入口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graphicFrame>
        <p:nvGraphicFramePr>
          <p:cNvPr id="178" name="Table 0"/>
          <p:cNvGraphicFramePr>
            <a:graphicFrameLocks noGrp="1"/>
          </p:cNvGraphicFramePr>
          <p:nvPr/>
        </p:nvGraphicFramePr>
        <p:xfrm>
          <a:off x="457200" y="1453896"/>
          <a:ext cx="11277295" cy="290779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3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校验汇总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查看校验统计、规则明细和问题清单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世界观校验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说明世界观校验关注什么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说明角色校验关注什么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剧情校验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说明剧情校验关注什么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说明大纲校验关注什么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说明章节校验关注什么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校验介绍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正文校验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说明正文校验关注什么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P.177</a:t>
            </a:r>
            <a:endParaRPr lang="en-US" sz="10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校验结果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（页面区域）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校验 → 校验汇总 → 校验结果</a:t>
            </a:r>
            <a:endParaRPr lang="en-US" sz="1500" dirty="0"/>
          </a:p>
        </p:txBody>
      </p:sp>
      <p:graphicFrame>
        <p:nvGraphicFramePr>
          <p:cNvPr id="179" name="Table 0"/>
          <p:cNvGraphicFramePr>
            <a:graphicFrameLocks noGrp="1"/>
          </p:cNvGraphicFramePr>
          <p:nvPr/>
        </p:nvGraphicFramePr>
        <p:xfrm>
          <a:off x="457200" y="1846326"/>
          <a:ext cx="11277296" cy="2212848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区域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左侧校验汇总树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展示来自分卷设计的卷分类，以及AI校验后生成的校验数据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显示卷号、抽样章节、最后校验时间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校验统计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显示总体状态、通过、警告、失败、未校验数量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规则明细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按模块展示校验结果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问题清单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展示问题摘要、原因和定位按钮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P.178</a:t>
            </a:r>
            <a:endParaRPr lang="en-US" sz="1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校验结果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（字段说明）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graphicFrame>
        <p:nvGraphicFramePr>
          <p:cNvPr id="180" name="Table 0"/>
          <p:cNvGraphicFramePr>
            <a:graphicFrameLocks noGrp="1"/>
          </p:cNvGraphicFramePr>
          <p:nvPr/>
        </p:nvGraphicFramePr>
        <p:xfrm>
          <a:off x="457200" y="1453896"/>
          <a:ext cx="11277295" cy="429768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当前校验对应卷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判断问题范围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抽样章节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本次校验抽取章节数量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判断覆盖范围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最后校验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最近执行时间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判断结果是否过期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总体状态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本次校验整体结果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快速判断是否可继续写作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没有问题的规则数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正常项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警告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轻中度问题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建议修复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严重问题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优先修复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尚未检查的规则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不能当成通过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问题摘要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问题概述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快速理解问题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问题原因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帮助定位修复方向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跳到相关章节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只有有章节位置时显示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P.179</a:t>
            </a:r>
            <a:endParaRPr lang="en-US" sz="1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校验结果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（按钮说明）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graphicFrame>
        <p:nvGraphicFramePr>
          <p:cNvPr id="181" name="Table 0"/>
          <p:cNvGraphicFramePr>
            <a:graphicFrameLocks noGrp="1"/>
          </p:cNvGraphicFramePr>
          <p:nvPr/>
        </p:nvGraphicFramePr>
        <p:xfrm>
          <a:off x="457200" y="1453896"/>
          <a:ext cx="11277296" cy="281635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点击效果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提示卷分类来源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卷分类来自分卷设计，不能在此手工新建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需要先在分卷设计维护卷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提示校验数据来源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校验数据由AI校验生成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不会自动修复业务数据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删除当前校验数据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清理某次AI校验结果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不删除原始章节或设定；不能删除只读卷分类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全部删除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删除所有校验记录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清空校验历史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高风险，影响问题追踪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运行卷校验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选中第N卷分类后校验该卷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会消耗Token；主界面对话正在生成时会先提示是否中断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打开章节修复弹窗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聚合同一章节的问题并展示，可在弹窗内执行Agent修复、查看差异并确认保存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打开弹窗本身不会自动改源数据；只有点击“确认接受，保存”才会写入修复后的章节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43400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416552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注意：AI校验按钮只有在选中名称形如第1卷的卷分类时才启用。双击已经生成的校验数据时只能查看结果，不能直接再次校验。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P.180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六类校验说明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世界观校验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089099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是否违反硬规则。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力量体系是否前后不一致。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世界历史和现状是否矛盾。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特殊法则是否被随意打破。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03504" y="2889707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113430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角色使用了未定义能力。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已设定不可复活，但正文出现无代价复活。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世界中某资源稀缺，但章节里随处可见。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角色校验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89040" y="2089099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行为是否符合性格。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能力是否超过设定边界。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关系变化是否有过程。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Want/Need和成长路径是否被推进。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79312" y="2889707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9040" y="3113430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冷静角色突然无理由冲动。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弱小角色突然使用未设定能力。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敌对关系突然变成亲密关系但缺少转折。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剧情校验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580839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因果链是否完整。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伏笔是否埋设和回收。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冲突是否有效升级。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事件影响是否承接到后续章节。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03504" y="5381447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605170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重要事件无前置条件。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伏笔出现后长期没有回应。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冲突解决太轻易。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大纲校验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89040" y="4580839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当前章节是否偏离全书大纲。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分卷主题是否服务全书主题。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结局目标是否仍然可达。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主线是否被支线淹没。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6379312" y="5381447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89040" y="5605170"/>
            <a:ext cx="4989424" cy="61874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写了很多支线但主线无推进。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分卷结尾状态和大纲规划不一致。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章节目标与全书核心冲突无关。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P.181</a:t>
            </a:r>
            <a:endParaRPr lang="en-US" sz="10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六类校验说明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章节校验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章节目标是否明确。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阻力、转折、钩子是否存在。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章节顺序是否合理。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信息投放是否过多或过少。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03504" y="3436925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766109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本章没有明确目标。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结尾没有钩子。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世界观信息一次性塞太多。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正文校验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检查重点：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89040" y="2267712"/>
            <a:ext cx="4989424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语病和重复。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叙事逻辑。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人物对话风格。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场景连续性。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正文是否执行了蓝图。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379312" y="3692652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常见问题：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89040" y="4021836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同一信息反复解释。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对话不像角色本人。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场景位置突然变化。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P.182</a:t>
            </a:r>
            <a:endParaRPr lang="en-US" sz="10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B5FD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校验修复闭环</a:t>
            </a:r>
            <a:r>
              <a:rPr lang="en-US" sz="290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推荐流程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2899867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完成正文或规划修改。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进入数据中心重新打包。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进入校验结果。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双击选择要校验的第N卷分类，点击AI校验。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先处理失败问题。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再处理警告问题。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根据问题类型回到对应模块修复：世界观、角色、剧情、大纲、章节、蓝图或正文。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保存修复。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再次进入数据中心重新打包。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再次校验。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4B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注意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79312" y="1938528"/>
            <a:ext cx="5208880" cy="5303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只改正文不改设定，后续AI可能继续犯同样错误。只改设定不打包，AI仍读取旧上下文。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 · 天命系统  ·  P.183</a:t>
            </a:r>
            <a:endParaRPr lang="en-US" sz="10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77295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入口：工作台 → 个人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当前界面没有名为“设置模式”的独立按钮。工作台左上角切换到个人后，可进入用户、界面、通知、系统四类设置功能。这些功能不直接参与小说生成，但会影响软件体验、AI网络连接、安全性和维护成本。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P.184</a:t>
            </a:r>
            <a:endParaRPr lang="en-US" sz="10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当前个人模式入口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graphicFrame>
        <p:nvGraphicFramePr>
          <p:cNvPr id="186" name="Table 0"/>
          <p:cNvGraphicFramePr>
            <a:graphicFrameLocks noGrp="1"/>
          </p:cNvGraphicFramePr>
          <p:nvPr/>
        </p:nvGraphicFramePr>
        <p:xfrm>
          <a:off x="457200" y="1453896"/>
          <a:ext cx="11277295" cy="464515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573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顶部Tab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用户资料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基本信息、会员订阅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账号管理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账号绑定、登录历史、密码安全、账号注销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密码锁定、自动锁定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偏好设置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显示设置、语言区域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主题外观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主题选择、主题设计、主题导入导出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智能配色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图片取色器、AI配色方案、生成历史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动画效果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加载动画、主题过渡、UI分辨率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自动切换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跟随系统、定时切换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字体设置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UI字体、编辑器字体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通知设置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通知类型、通知偏好、系统集成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免打扰、通知历史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音效管理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音量与设备、音效方案、语音播报、音效库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P.185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当前个人模式入口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graphicFrame>
        <p:nvGraphicFramePr>
          <p:cNvPr id="187" name="Table 0"/>
          <p:cNvGraphicFramePr>
            <a:graphicFrameLocks noGrp="1"/>
          </p:cNvGraphicFramePr>
          <p:nvPr/>
        </p:nvGraphicFramePr>
        <p:xfrm>
          <a:off x="457200" y="1453896"/>
          <a:ext cx="11277295" cy="186537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3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顶部Tab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子模块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数据清理、备份管理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代理设置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代理设置、代理规则、代理链、代理测试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日志管理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日志级别、日志输出、日志格式、日志轮转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系统信息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应用信息、系统信息、运行环境、诊断信息、系统监控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P.186</a:t>
            </a:r>
            <a:endParaRPr lang="en-US" sz="10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基本信息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用于维护头像、昵称、个人资料等显示信息。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0890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操作流程：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312822"/>
            <a:ext cx="4989424" cy="782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进入用户 → 用户资料 → 基本信息。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修改头像或基础资料。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检查界面显示是否更新。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03504" y="3296310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851" y="3318027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陷阱：基本信息主要影响显示，不等同于账号安全设置。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会员订阅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用于查看会员状态、订阅权益或到期信息。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79312" y="2247214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3904" y="229433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注意：订阅状态可能影响部分云端或高级功能，以实际页面提示为准。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账号绑定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用于管理第三方账号或平台账号绑定。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操作效果：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804562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绑定后可用于登录、同步或身份验证。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解绑可能影响相关服务。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登录历史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用于查看账号登录记录。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79312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使用场景：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89040" y="4804562"/>
            <a:ext cx="4989424" cy="455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排查是否有异常登录。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检查最近登录设备和时间。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P.187</a:t>
            </a:r>
            <a:endParaRPr lang="en-US" sz="10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密码安全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用于修改密码或安全策略。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" y="2267712"/>
            <a:ext cx="5208880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40864"/>
            <a:ext cx="4879696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陷阱：修改密码后，其他设备可能需要重新登录。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账号注销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用于注销账号。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79312" y="2267712"/>
            <a:ext cx="5208880" cy="666902"/>
          </a:xfrm>
          <a:prstGeom prst="roundRect">
            <a:avLst>
              <a:gd name="adj" fmla="val 8227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3904" y="2340864"/>
            <a:ext cx="4879696" cy="5571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危险：账号注销属于高风险操作，可能导致账号数据、授权状态或云端权益不可恢复。操作前必须确认。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P.188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（密码锁定）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用于给本地应用增加密码保护。页面包含密码状态、本周统计、快捷设置、密码锁定设置、锁定时机等。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常见选项：</a:t>
            </a:r>
            <a:endParaRPr lang="en-US" sz="1500" dirty="0"/>
          </a:p>
        </p:txBody>
      </p:sp>
      <p:graphicFrame>
        <p:nvGraphicFramePr>
          <p:cNvPr id="190" name="Table 0"/>
          <p:cNvGraphicFramePr>
            <a:graphicFrameLocks noGrp="1"/>
          </p:cNvGraphicFramePr>
          <p:nvPr/>
        </p:nvGraphicFramePr>
        <p:xfrm>
          <a:off x="457200" y="2238756"/>
          <a:ext cx="11277296" cy="2907792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3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设置密码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设置应用锁密码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启用密码锁定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开启应用级密码保护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高安全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启动锁定、切换锁定、短时间自动锁定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兼顾安全和便利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便利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降低锁定频率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应用启动时锁定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每次启动需要输入密码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窗口切换时锁定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应用失焦再回来时锁定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219700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5292852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陷阱：启用密码锁定前必须先设置密码，否则无法正常保护。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P.189</a:t>
            </a:r>
            <a:endParaRPr lang="en-US" sz="10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自动锁定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用于控制闲置多久后自动锁定。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" y="2267712"/>
            <a:ext cx="5208880" cy="452323"/>
          </a:xfrm>
          <a:prstGeom prst="roundRect">
            <a:avLst>
              <a:gd name="adj" fmla="val 12129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40864"/>
            <a:ext cx="4879696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建议：公共电脑或共享环境建议开启；个人电脑可适当延长时间。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显示设置和语言区域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用于配置界面显示偏好和语言区域。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79312" y="2267712"/>
            <a:ext cx="5208880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3904" y="2340864"/>
            <a:ext cx="4879696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注意：语言区域影响界面显示偏好，不会自动翻译已有小说内容。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P.190</a:t>
            </a:r>
            <a:endParaRPr lang="en-US" sz="10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主题选择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3578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用于选择当前应用主题。页面会显示当前使用主题、可用主题、搜索主题、我的收藏、应用主题、删除主题和刷新。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24149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操作流程：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465222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进入界面 → 主题外观 → 主题选择。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搜索或浏览主题卡片。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点击主题卡片。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点击应用主题。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检查界面颜色是否适合长时间写作。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03504" y="3429406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502558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陷阱：主题卡片被选中不等于已经应用，必须点击应用主题。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主题设计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用于自定义主题颜色和风格。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79312" y="208909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3904" y="216225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建议：保证文字和背景对比度，避免深色背景上使用低对比文字。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主题导入导出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用于备份和迁移主题。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" y="458083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65399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陷阱：导入主题可能覆盖同名主题，操作前确认。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图片取色器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用于从图片中提取颜色，用于主题设计。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79312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使用场景：想根据封面、插画或品牌图生成界面配色。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P.191</a:t>
            </a:r>
            <a:endParaRPr lang="en-US" sz="1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AI配色方案和生成历史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用于让AI生成配色方案，并查看生成记录。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" y="208909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6225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注意：AI配色只是建议，最终要检查可读性。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动画效果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包括加载动画、主题过渡、UI分辨率。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79312" y="208909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3904" y="216225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建议：低配置设备可减少动画，提升响应速度。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自动切换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包括跟随系统和定时切换。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" y="4580839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使用场景：白天浅色、晚上深色，或跟随Windows系统主题。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9312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字体设置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379312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包括UI字体和编辑器字体。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79312" y="4580839"/>
            <a:ext cx="5208880" cy="499059"/>
          </a:xfrm>
          <a:prstGeom prst="roundRect">
            <a:avLst>
              <a:gd name="adj" fmla="val 10993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3904" y="4653991"/>
            <a:ext cx="4879696" cy="38933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建议：编辑器字体优先选择清晰、等宽或适合长文阅读的字体。UI字体影响菜单和控件显示。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P.192</a:t>
            </a:r>
            <a:endParaRPr lang="en-US" sz="1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通知类型和通知偏好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用于控制哪些事件弹出通知，以及通知呈现方式。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常见事件：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10765231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AI生成完成。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AI生成失败。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长任务完成。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3504" y="3766109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839261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陷阱：关闭关键通知后，长任务失败可能不容易被发现。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P.193</a:t>
            </a:r>
            <a:endParaRPr lang="en-US" sz="10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（系统集成）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页面包含Windows系统通知、系统托盘图标、开机自启动、高级系统集成等。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常见选项：</a:t>
            </a:r>
            <a:endParaRPr lang="en-US" sz="1500" dirty="0"/>
          </a:p>
        </p:txBody>
      </p:sp>
      <p:graphicFrame>
        <p:nvGraphicFramePr>
          <p:cNvPr id="195" name="Table 0"/>
          <p:cNvGraphicFramePr>
            <a:graphicFrameLocks noGrp="1"/>
          </p:cNvGraphicFramePr>
          <p:nvPr/>
        </p:nvGraphicFramePr>
        <p:xfrm>
          <a:off x="457200" y="2238756"/>
          <a:ext cx="11277295" cy="2907792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63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启用Windows通知中心集成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使用系统通知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需系统权限支持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播放通知声音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通知时播放声音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写作时可能打扰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托盘图标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在任务栏托盘显示图标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方便后台运行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关闭到托盘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关闭窗口时不退出程序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容易误以为程序已退出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开机自启动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Windows启动时运行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会影响开机体验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注册URL协议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支持TM://协议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高级功能，谨慎修改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关联文件类型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关联.tm文件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会改变系统打开方式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P.194</a:t>
            </a:r>
            <a:endParaRPr lang="en-US" sz="10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免打扰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用于在指定时间段关闭通知打扰。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208909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6225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建议：写作冲刺或录屏时开启。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通知历史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379312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用于查看过去通知记录。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79312" y="208909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3904" y="216225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注意：清空历史会丢失排查线索。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音效管理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03504" y="435711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包括音量与设备、音效方案、语音播报、音效库。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" y="4580839"/>
            <a:ext cx="5208880" cy="349199"/>
          </a:xfrm>
          <a:prstGeom prst="roundRect">
            <a:avLst>
              <a:gd name="adj" fmla="val 15711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653991"/>
            <a:ext cx="4879696" cy="239471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建议：语音播报适合长任务完成提醒，但在安静环境下可能打扰。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P.195</a:t>
            </a:r>
            <a:endParaRPr lang="en-US" sz="10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数据清理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用于清理缓存、临时数据或无用数据。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" y="2267712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40864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危险：清理前必须确认范围，避免删除仍需要的数据。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P.196</a:t>
            </a:r>
            <a:endParaRPr lang="en-US" sz="10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（备份管理）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备份管理包含三个独立功能：</a:t>
            </a:r>
            <a:endParaRPr lang="en-US" sz="1500" dirty="0"/>
          </a:p>
        </p:txBody>
      </p:sp>
      <p:graphicFrame>
        <p:nvGraphicFramePr>
          <p:cNvPr id="198" name="Table 0"/>
          <p:cNvGraphicFramePr>
            <a:graphicFrameLocks noGrp="1"/>
          </p:cNvGraphicFramePr>
          <p:nvPr/>
        </p:nvGraphicFramePr>
        <p:xfrm>
          <a:off x="457200" y="1846326"/>
          <a:ext cx="11277295" cy="1773936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4434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注意事项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章节导出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将章节正文压缩为ZIP，便于分享给读者或上传平台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仅包含.md正文文件，不含设计/配置数据；导出的ZIP不能用于数据恢复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数据备份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完整打包项目全部数据（设计+创作+项目）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建议定期备份到云盘或U盘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数据恢复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从数据备份生成的ZIP中还原全部数据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恢复前自动保存安全副本；解压失败自动回滚；仅接受数据备份的ZIP，章节导出ZIP无法用于恢复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693414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推荐流程：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085844"/>
            <a:ext cx="11057839" cy="13710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大规模修改前先点击“一键备份”创建完整备份。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确认备份成功。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再执行清理、导入或结构调整。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恢复备份前确认当前数据是否需要另存。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5475224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548376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危险：数据恢复会覆盖当前的设计、创作和项目数据（操作前自动保存安全副本到 Storage/_backup_safety/）。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P.197</a:t>
            </a:r>
            <a:endParaRPr lang="en-US" sz="10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（代理设置）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入口包括代理设置、代理规则、代理链、代理测试。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632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代理设置字段常见包括：</a:t>
            </a:r>
            <a:endParaRPr lang="en-US" sz="1500" dirty="0"/>
          </a:p>
        </p:txBody>
      </p:sp>
      <p:graphicFrame>
        <p:nvGraphicFramePr>
          <p:cNvPr id="199" name="Table 0"/>
          <p:cNvGraphicFramePr>
            <a:graphicFrameLocks noGrp="1"/>
          </p:cNvGraphicFramePr>
          <p:nvPr/>
        </p:nvGraphicFramePr>
        <p:xfrm>
          <a:off x="457200" y="2238756"/>
          <a:ext cx="11277296" cy="256032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代理类型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HTTP、SOCKS等类型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服务器地址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代理服务器地址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端口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代理端口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启用系统代理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是否让系统代理生效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需要身份验证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是否使用用户名密码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绕过列表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不走代理的地址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872228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代理设置还包含：PAC脚本配置、配置历史、使用统计、预设方案和智能推荐。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5264658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代理测试可执行：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P.198</a:t>
            </a:r>
            <a:endParaRPr lang="en-US" sz="1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08615" y="237744"/>
            <a:ext cx="1325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（代理设置）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53896"/>
            <a:ext cx="11057839" cy="199263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连通性测试。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延迟测试。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速度测试。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IP检测。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DNS泄漏检测。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一键验证应用内是否走代理。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464814"/>
            <a:ext cx="11277295" cy="511937"/>
          </a:xfrm>
          <a:prstGeom prst="roundRect">
            <a:avLst>
              <a:gd name="adj" fmla="val 1071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537966"/>
            <a:ext cx="10948111" cy="40220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陷阱：API连接失败不一定是模型问题，也可能是代理配置错误。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P.199</a:t>
            </a:r>
            <a:endParaRPr lang="en-US" sz="10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日志管理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包括日志级别、日志输出、日志格式、日志轮转。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使用场景：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排查错误。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提交问题报告。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分析AI调用失败。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3504" y="3510382"/>
            <a:ext cx="5208880" cy="452323"/>
          </a:xfrm>
          <a:prstGeom prst="roundRect">
            <a:avLst>
              <a:gd name="adj" fmla="val 12129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583534"/>
            <a:ext cx="4879696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建议：普通用户不要长期开启过高日志级别，避免日志过大。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系统信息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包括应用信息、系统信息、运行环境、诊断信息、系统监控。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9312" y="2267712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使用场景：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89040" y="2596896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查看当前版本。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检查运行环境。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排查性能问题。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提供诊断信息给开发者。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P.200</a:t>
            </a:r>
            <a:endParaRPr lang="en-US" sz="10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个人模式与设置类功能</a:t>
            </a:r>
            <a:r>
              <a:rPr lang="en-US" sz="29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个人模式总陷阱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不清楚作用的系统设置不要随意改。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代理配置错误会直接影响模型连接。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数据清理和备份恢复属于高风险操作。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关闭通知可能错过AI失败提示。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主题和字体应优先保证可读性，而不是只追求好看。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个人模式与设置 · 天命系统  ·  P.201</a:t>
            </a:r>
            <a:endParaRPr lang="en-US" sz="10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4" name="Text 2"/>
          <p:cNvSpPr/>
          <p:nvPr/>
        </p:nvSpPr>
        <p:spPr>
          <a:xfrm>
            <a:off x="457200" y="1463040"/>
            <a:ext cx="11277295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P.202</a:t>
            </a:r>
            <a:endParaRPr lang="en-US" sz="10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创作台看不到模型怎么办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可能原因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115092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模型管理中没有创建模型。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模型创建了但状态是禁用。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写作配置没有选择对话API。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API端点或密钥测试失败。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处理步骤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89040" y="1938528"/>
            <a:ext cx="4989424" cy="191810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进入智助 → 模型集成 → 模型管理。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选中供应商分类，确认端点和密钥。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点击测试API连接。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获取或手动添加模型。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启用目标模型。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进入写作配置，选择对话API。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回到创作台检查模型下拉。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P.203</a:t>
            </a:r>
            <a:endParaRPr lang="en-US" sz="10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API测试失败怎么办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常见原因：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267712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API端点错误。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API密钥错误。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网络无法访问供应商。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代理配置错误。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供应商Models接口和Chat接口不一致。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03504" y="3692652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处理步骤：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4021836"/>
            <a:ext cx="10765231" cy="14066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检查端点是否包含正确协议和路径。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检查Key是否复制完整，没有空格和换行。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进入系统 → 代理设置 → 代理测试检查网络。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使用模型管理中的获取模型重试或指定模型重试。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如果供应商不支持模型列表，使用手动获取模型。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P.204</a:t>
            </a:r>
            <a:endParaRPr lang="en-US" sz="1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AI不按设定写怎么办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先检查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4989424" cy="945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设定是否写入设计模块。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相关数据是否启用。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是否进入数据中心重新打包。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当前生成指令是否解析到正确章节。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指令是否足够明确。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处理步骤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58648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回到设计模块检查世界观、角色、势力、位置、剧情。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确认关键数据状态为启用。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进入创作模块检查章节和蓝图是否明确。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进入数据中心重新打包。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回到创作台，切换到Agent模式后输入“生成第X章”重新触发，或用@chapter:volN_chM明确章节。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如果是多章计划或@仿写，切换到Plan模式。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如果章节已存在，使用@重写:volN_chM，不要普通生成覆盖。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用校验模块检查是否仍有冲突。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注意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03504" y="4357116"/>
            <a:ext cx="5208880" cy="5102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正式生成不是靠聊天窗口记住上一轮解释，而是靠打包上下文、事实快照、章节计划和蓝图。只在聊天里补充设定但不写入业务数据、不重新打包，后续章节仍可能不按设定执行。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P.205</a:t>
            </a:r>
            <a:endParaRPr lang="en-US" sz="10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修改数据后为什么不生效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最常见原因是没有重新打包。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正确流程：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10765231" cy="166237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修改设计或创作数据。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确认状态启用。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进入创作 → 正文配置 → 数据中心。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再回创作台使用AI。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3504" y="4277563"/>
            <a:ext cx="10984687" cy="452323"/>
          </a:xfrm>
          <a:prstGeom prst="roundRect">
            <a:avLst>
              <a:gd name="adj" fmla="val 12129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350715"/>
            <a:ext cx="10655503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注意：保存是保存业务数据；打包是生成AI上下文。两者不是一回事。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P.206</a:t>
            </a:r>
            <a:endParaRPr lang="en-US" sz="10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为什么说“生成第X章”就可以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系统会尝试从自然语言里解析章节号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“生成第12章”。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“写第2卷第3章”。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“创建第5章正文”。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03504" y="2852014"/>
            <a:ext cx="5208880" cy="96926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章节号在当前分卷设计中能唯一匹配，系统会解析成内部章节ID。但是否执行生成还取决于当前模式：正式单章生成通常使用Agent模式，多章计划或@仿写使用Plan模式；Edit模式会阻止正式章节生成。@chapter:volN_chM的作用是跳过歧义解析，更快、更准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常见情况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9040" y="1938528"/>
            <a:ext cx="4989424" cy="158008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只有一卷或章节号唯一：在Agent或合适的Plan任务中，直接说“生成第X章”通常够用。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多卷里都有同一个章节号：需要说清第几卷，或直接用@chapter:volN_chM。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章节已存在：普通生成会被拦截，需要用@重写:volN_chM。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要续写已有正文：使用@续写:volN_chM。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P.207</a:t>
            </a:r>
            <a:endParaRPr lang="en-US" sz="10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Agent、Plan、Edit到底有什么用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53896"/>
            <a:ext cx="11277295" cy="37414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它们不是普通IDE那种长期上下文模式，而是执行路由：</a:t>
            </a:r>
            <a:endParaRPr lang="en-US" sz="1500" dirty="0"/>
          </a:p>
        </p:txBody>
      </p:sp>
      <p:graphicFrame>
        <p:nvGraphicFramePr>
          <p:cNvPr id="209" name="Table 0"/>
          <p:cNvGraphicFramePr>
            <a:graphicFrameLocks noGrp="1"/>
          </p:cNvGraphicFramePr>
          <p:nvPr/>
        </p:nvGraphicFramePr>
        <p:xfrm>
          <a:off x="457200" y="1846326"/>
          <a:ext cx="11277295" cy="1517904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主要作用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不要误解成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触发生成、续写、重写等执行类任务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长期记忆聊天窗口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构建或执行多步骤计划，如@仿写和批量章节计划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更严格的正文生成模式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Edit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普通问答、解释、局部修改建议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正式章节生成入口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37382"/>
            <a:ext cx="11277295" cy="758698"/>
          </a:xfrm>
          <a:prstGeom prst="roundRect">
            <a:avLst>
              <a:gd name="adj" fmla="val 723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510534"/>
            <a:ext cx="10948111" cy="64897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注意：每章正式生成会开启独立业务会话，生成完成后关闭。下一章不会依赖上一章聊天窗口里的隐式记忆，而是读取打包上下文和上一章落盘后形成的追踪数据。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P.208</a:t>
            </a:r>
            <a:endParaRPr lang="en-US" sz="10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11277295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10984687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为什么落盘后的章节通常是连贯的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因为正式保存前会经过多层校验：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267712"/>
            <a:ext cx="10765231" cy="1662379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AI必须输出正文和CHANGES变更摘要。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系统解析CHANGES，检查字段是否完整、ID是否正确。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系统用事实快照校验角色状态、地点、势力、冲突、伏笔、时间线、物品等变化是否合理。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系统检查未知实体、世界观硬规则、蓝图实体出场和字数。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不通过会自动重写；多次失败才提示人工介入。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只有通过后才会写入章节文件，并更新追踪Guide、摘要、关键词索引、向量索引和卷里程碑。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03504" y="3948379"/>
            <a:ext cx="10984687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所以“不连贯正文直接落盘”的概率会被显著降低。真正要注意的是：源数据本身如果矛盾，系统只能按矛盾数据生成或提示失败，不能替代用户修设定。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P.209</a:t>
            </a:r>
            <a:endParaRPr lang="en-US" sz="10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一键直出失败怎么办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先看失败步骤。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常见原因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模型不可用。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创作模板缺少题材类型。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剧情规则缺少总卷数。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大纲设计缺少总章节数。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某一步分类为空或数量不合理。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前序数据质量太差，导致后序生成失败。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处理步骤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127304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检查模型管理是否正常。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回到一键直出页面。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找到失败步骤。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检查该步骤的分类、数量和额外字段。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修正参数。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点击继续生成。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如果想完全重来，先点击刷新重置。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P.210</a:t>
            </a:r>
            <a:endParaRPr lang="en-US" sz="10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校验失败怎么修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处理原则：先失败，后警告；先源头，后正文。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2267712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4989424" cy="191810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打开校验结果。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查看失败问题。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判断问题属于世界观、角色、剧情、大纲、章节、蓝图还是正文。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回到对应业务模块修复源数据。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再次校验。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3504" y="4533290"/>
            <a:ext cx="5208880" cy="666902"/>
          </a:xfrm>
          <a:prstGeom prst="roundRect">
            <a:avLst>
              <a:gd name="adj" fmla="val 8227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606442"/>
            <a:ext cx="4879696" cy="55717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陷阱：不要只在正文里临时改一句。如果问题源自角色设定或世界观规则，必须修源数据。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3008" y="1453896"/>
            <a:ext cx="5501488" cy="4837176"/>
          </a:xfrm>
          <a:prstGeom prst="roundRect">
            <a:avLst>
              <a:gd name="adj" fmla="val 15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545336"/>
            <a:ext cx="52088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清除打包能不能随便点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9312" y="1938528"/>
            <a:ext cx="5208880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9312" y="2267712"/>
            <a:ext cx="5208880" cy="5303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清除打包是高风险操作。当前实现会确认清除所有打包文件、已生成章节、向量索引和历史记录，且不可恢复。它不是普通刷新。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79312" y="2816352"/>
            <a:ext cx="5208880" cy="452323"/>
          </a:xfrm>
          <a:prstGeom prst="roundRect">
            <a:avLst>
              <a:gd name="adj" fmla="val 12129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3904" y="2889504"/>
            <a:ext cx="4879696" cy="3425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89040" y="3286963"/>
            <a:ext cx="4989424" cy="89519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普通修改后只点重新打包。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只有打包状态严重异常、需要彻底清理时才考虑清除打包。</a:t>
            </a:r>
            <a:endParaRPr lang="en-US" sz="132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2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清除前最好先做备份。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P.211</a:t>
            </a:r>
            <a:endParaRPr lang="en-US" sz="10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DD3FC"/>
          </a:solidFill>
        </p:spPr>
      </p:sp>
      <p:sp>
        <p:nvSpPr>
          <p:cNvPr id="3" name="Text 1"/>
          <p:cNvSpPr/>
          <p:nvPr/>
        </p:nvSpPr>
        <p:spPr>
          <a:xfrm>
            <a:off x="457200" y="237744"/>
            <a:ext cx="999713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77295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长篇写崩怎么办</a:t>
            </a:r>
            <a:r>
              <a:rPr lang="en-US" sz="29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（功能整合）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11277295" cy="0"/>
          </a:xfrm>
          <a:prstGeom prst="line">
            <a:avLst/>
          </a:prstGeom>
          <a:noFill/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说明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5208880" cy="2054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长篇写崩通常不是单一AI问题，而是数据链断了。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5389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54533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排查顺序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89040" y="1865376"/>
            <a:ext cx="4989424" cy="16002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世界观规则是否明确。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角色Want/Need和成长路径是否完整。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剧情规则是否有因果和伏笔。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大纲是否仍然控制全书方向。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分卷是否有阶段目标。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章节是否有目标、阻力、转折和钩子。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蓝图是否有本章起承转合和关键执行要素。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数据中心是否重新打包。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校验模块是否发现冲突。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57200" y="3945636"/>
            <a:ext cx="5501488" cy="2345436"/>
          </a:xfrm>
          <a:prstGeom prst="roundRect">
            <a:avLst>
              <a:gd name="adj" fmla="val 31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37076"/>
            <a:ext cx="52088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修复方式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13232" y="4357116"/>
            <a:ext cx="4989424" cy="1109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不要继续无脑生成正文。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停下来修设计和规划。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用校验结果定位问题。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修复源数据。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重新打包。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8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从问题章节附近重新规划和修改。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 速查 · 天命系统  ·  P.212</a:t>
            </a:r>
            <a:endParaRPr lang="en-US" sz="10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3" name="Text 1"/>
          <p:cNvSpPr/>
          <p:nvPr/>
        </p:nvSpPr>
        <p:spPr>
          <a:xfrm>
            <a:off x="457200" y="1463040"/>
            <a:ext cx="1127729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全册结束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 → 规划 → 打包 → 生成 → 校验，环环相扣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  ·  共 213 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50901</Words>
  <Application>WPS 演示</Application>
  <PresentationFormat>On-screen Show (16:9)</PresentationFormat>
  <Paragraphs>7473</Paragraphs>
  <Slides>213</Slides>
  <Notes>213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213</vt:i4>
      </vt:variant>
    </vt:vector>
  </HeadingPairs>
  <TitlesOfParts>
    <vt:vector size="22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天命系统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天命系统完整业务介绍</dc:title>
  <dc:creator>天命</dc:creator>
  <dc:subject>PptxGenJS Presentation</dc:subject>
  <cp:lastModifiedBy>wps</cp:lastModifiedBy>
  <cp:revision>3</cp:revision>
  <dcterms:created xsi:type="dcterms:W3CDTF">2026-05-06T00:58:00Z</dcterms:created>
  <dcterms:modified xsi:type="dcterms:W3CDTF">2026-05-06T01:09:15Z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27D402BD46164150B6F0C69F6F89230C_12</vt:lpwstr>
  </property>
  <property fmtid="{D5CDD505-2E9C-101B-9397-08002B2CF9AE}" pid="3" name="KSOProductBuildVer">
    <vt:lpwstr>2052-12.8.2.15091</vt:lpwstr>
  </property>
</Properties>
</file>
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016000"/>
            <a:ext cx="1066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6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一本千章万章的小说</a:t>
            </a:r>
            <a:endParaRPr lang="zh-CN" altLang="en-US" sz="26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651000"/>
            <a:ext cx="1066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4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怎么才能从头到尾不崩？</a:t>
            </a:r>
            <a:endParaRPr lang="zh-CN" altLang="en-US" sz="4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07000" y="2641600"/>
            <a:ext cx="1778000" cy="50800"/>
          </a:xfrm>
          <a:prstGeom prst="rect">
            <a:avLst/>
          </a:prstGeom>
          <a:solidFill>
            <a:srgbClr val="F5A23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2870200"/>
            <a:ext cx="1066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1600" b="1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</a:rPr>
              <a:t>不是「多写几段字」，而是「让整本书始终自洽」</a:t>
            </a:r>
            <a:endParaRPr lang="zh-CN" altLang="en-US" sz="1600" b="1">
              <a:solidFill>
                <a:srgbClr val="4A90E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52500" y="3556000"/>
            <a:ext cx="3175000" cy="1397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普通写作软件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只保存文字、目录、字数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不理解剧情状态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508500" y="3556000"/>
            <a:ext cx="3175000" cy="1397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普通AI写作工具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靠提示词续写段落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上下文超窗就遗忘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064500" y="3556000"/>
            <a:ext cx="3175000" cy="13970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天命系统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管理一整本书的状态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数据·门禁·校验·归档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000" y="5207000"/>
            <a:ext cx="1066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1400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本资料: 用图讲清天命与上下文模型 / 写作软件的根本差异</a:t>
            </a:r>
            <a:endParaRPr lang="zh-CN" altLang="en-US" sz="1400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" y="5969000"/>
            <a:ext cx="1066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10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功能区别讲解资料</a:t>
            </a:r>
            <a:endParaRPr lang="zh-CN" altLang="en-US" sz="10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用户写到几百章时，会撞到的三堵墙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问题不是AI不努力，而是故事没有被系统化管理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333500"/>
            <a:ext cx="3429000" cy="368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记不住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上下文窗口有限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早期设定逐渐被截断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例：第30章定下「主角畏火」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第300章却写他「独闯火窟」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模型早就把这条设定挤掉了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381500" y="1333500"/>
            <a:ext cx="3429000" cy="368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管不住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伏笔、承诺、倒计时无人追踪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势力立场、地图地点会被随手改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例：第50章张三说「七日内复仇」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第80章已过半月仍未提及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模型不会主动提醒这件事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064500" y="1333500"/>
            <a:ext cx="3429000" cy="368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找不回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改一个设定下游受不受影响全靠人工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写错后难以追溯来源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例：把「主角姓张」改成「姓李」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之前300章里「张大侠」全部不一致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但没人能告诉你哪些章受影响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016000" y="5270500"/>
            <a:ext cx="10160000" cy="7112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这三堵墙不能靠「更长上下文」解决，必须把故事变成系统能管理的数据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三类工具的能力对比矩阵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不是「是否调用AI」，而是「是否有长期创作闭环」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397000"/>
            <a:ext cx="1778000" cy="5334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维度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540000" y="1397000"/>
            <a:ext cx="3048000" cy="5334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普通写作软件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651500" y="1397000"/>
            <a:ext cx="3048000" cy="5334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普通AI写作工具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763000" y="1397000"/>
            <a:ext cx="3048000" cy="5334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天命系统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98500" y="1993900"/>
            <a:ext cx="1778000" cy="7366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角色状态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540000" y="19939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只是文字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651500" y="19939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靠上下文记忆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763000" y="19939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角色规则+事实快照字段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98500" y="2781300"/>
            <a:ext cx="1778000" cy="7366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伏笔追踪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540000" y="27813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51500" y="27813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763000" y="27813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伏笔状态字段持续更新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98500" y="3568700"/>
            <a:ext cx="1778000" cy="7366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硬规则约束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540000" y="35687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651500" y="35687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提示词软约束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763000" y="35687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五大规则参与门禁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98500" y="4356100"/>
            <a:ext cx="1778000" cy="7366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错误拦截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540000" y="43561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5651500" y="43561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不主动拦截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763000" y="43561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门禁不通过不落地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98500" y="5143500"/>
            <a:ext cx="1778000" cy="7366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设定修改同步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540000" y="51435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无概念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5651500" y="51435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无概念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8763000" y="5143500"/>
            <a:ext cx="3048000" cy="7366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重新打包刷新AI可见数据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89000" y="6197600"/>
            <a:ext cx="1041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10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红=做不到 · 橙=有但不可靠 · 绿=系统级保证</a:t>
            </a:r>
            <a:endParaRPr lang="zh-CN" altLang="en-US" sz="10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天命的核心理念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理解这句话，就理解它和其他工具的全部差异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16000" y="1524000"/>
            <a:ext cx="10160000" cy="114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AI不会天然记得一本千万字小说</a:t>
            </a:r>
            <a:endParaRPr lang="zh-CN" altLang="en-US" sz="2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上下文窗口有限，早期设定会被截断</a:t>
            </a:r>
            <a:endParaRPr lang="zh-CN" altLang="en-US" sz="14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2000" y="2794000"/>
            <a:ext cx="50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400" b="1">
                <a:solidFill>
                  <a:srgbClr val="F5A23D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lang="zh-CN" altLang="en-US" sz="2400" b="1">
              <a:solidFill>
                <a:srgbClr val="F5A2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16000" y="3175000"/>
            <a:ext cx="10160000" cy="889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所以天命不让AI靠「自己记忆」</a:t>
            </a:r>
            <a:endParaRPr lang="zh-CN" altLang="en-US" sz="20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不依赖更长上下文窗口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42000" y="4089400"/>
            <a:ext cx="50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400" b="1">
                <a:solidFill>
                  <a:srgbClr val="F5A23D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lang="zh-CN" altLang="en-US" sz="2400" b="1">
              <a:solidFill>
                <a:srgbClr val="F5A2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016000" y="4470400"/>
            <a:ext cx="10160000" cy="1270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把「故事」变成系统能管理的结构化数据</a:t>
            </a:r>
            <a:endParaRPr lang="zh-CN" altLang="en-US" sz="2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再让AI按当前章节「该看的那一份」去写作</a:t>
            </a:r>
            <a:endParaRPr lang="zh-CN" altLang="en-US" sz="14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从素材到正文：六步数据流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每一步的产出都是下一步的输入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460500"/>
            <a:ext cx="3175000" cy="11684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3345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拆书提炼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把参考小说拆成可复用写法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508500" y="1460500"/>
            <a:ext cx="3175000" cy="11684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3345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创意素材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沉淀题材、角色灵感、冲突套路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318500" y="1460500"/>
            <a:ext cx="3175000" cy="11684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五大规则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把世界、角色、势力、位置、剧情边界固定下来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3175000"/>
            <a:ext cx="3175000" cy="11684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四层规划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大纲、分卷、章节、蓝图逐级收敛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508500" y="3175000"/>
            <a:ext cx="3175000" cy="11684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数据中心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把规则与规划打包成AI可读取数据</a:t>
            </a:r>
            <a:endParaRPr lang="zh-CN" altLang="en-US" sz="12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318500" y="3175000"/>
            <a:ext cx="3175000" cy="11684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创作台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生成正文，并产出变更声明与事实快照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3873500" y="2044700"/>
            <a:ext cx="635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683500" y="2044700"/>
            <a:ext cx="635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9906000" y="2628900"/>
            <a:ext cx="635" cy="546100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873500" y="3759200"/>
            <a:ext cx="635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683500" y="3759200"/>
            <a:ext cx="635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698500" y="4762500"/>
            <a:ext cx="5207000" cy="11430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普通AI工具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用户给一段提示词，AI直接写文字；没有规则、规划、打包和校验闭环。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286500" y="4762500"/>
            <a:ext cx="5207000" cy="11430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天命系统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先把故事整理成结构化数据，再让AI按当前章节该看的数据写作。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8个业务模块: 按阶段的数据流向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不是发散，是从设计期到生成期的链路传递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524000"/>
            <a:ext cx="3175000" cy="1905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设计期</a:t>
            </a:r>
            <a:endParaRPr lang="zh-CN" altLang="en-US" sz="20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拆书提炼 / 创意素材 / 五大规则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98500" y="3683000"/>
            <a:ext cx="3175000" cy="698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产出：参考、技法、硬约束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08500" y="1524000"/>
            <a:ext cx="3175000" cy="19050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规划期</a:t>
            </a:r>
            <a:endParaRPr lang="zh-CN" altLang="en-US" sz="20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大纲 / 分卷 / 章节 / 蓝图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508500" y="3683000"/>
            <a:ext cx="3175000" cy="698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产出：每章要写什么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318500" y="1524000"/>
            <a:ext cx="3175000" cy="1905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生成期</a:t>
            </a:r>
            <a:endParaRPr lang="zh-CN" altLang="en-US" sz="20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数据中心 / 创作台 / 门禁校验 / 跟踪闭环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318500" y="3683000"/>
            <a:ext cx="3175000" cy="698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产出：正文、声明、事实快照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3873500" y="2476500"/>
            <a:ext cx="635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683500" y="2476500"/>
            <a:ext cx="635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1206500" y="4762500"/>
            <a:ext cx="9779000" cy="889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生成期写出的事实快照会回到下一章；下一章不是靠AI回忆，而是读取系统更新后的真实状态。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16000" y="5905500"/>
            <a:ext cx="1016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1300" b="1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看法：8个模块不是散点功能，而是“设计 → 规划 → 生成 → 回写”的数据链。</a:t>
            </a:r>
            <a:endParaRPr lang="zh-CN" altLang="en-US" sz="1300" b="1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模块数据交叉: 谁给谁喂数据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上游设计、下游生成、生成结果再反哺下一章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5500" y="1460500"/>
            <a:ext cx="3048000" cy="1270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写前输入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五大规则 + 四层规划 + 事实快照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873500" y="2095500"/>
            <a:ext cx="6985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572000" y="1460500"/>
            <a:ext cx="3048000" cy="12700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章节任务包</a:t>
            </a:r>
            <a:endParaRPr lang="zh-CN" altLang="en-US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数据中心筛选出本章该看的资料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620000" y="2095500"/>
            <a:ext cx="6985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8318500" y="1460500"/>
            <a:ext cx="3048000" cy="1270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AI生成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只根据任务包写正文，并同步输出变更声明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9842500" y="2730500"/>
            <a:ext cx="635" cy="508000"/>
          </a:xfrm>
          <a:prstGeom prst="line">
            <a:avLst/>
          </a:prstGeom>
          <a:ln w="25400">
            <a:solidFill>
              <a:srgbClr val="F2C94C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8318500" y="3238500"/>
            <a:ext cx="3048000" cy="12065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门禁与校验</a:t>
            </a:r>
            <a:endParaRPr lang="zh-CN" altLang="en-US" sz="17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检查引用、状态、正文是否互相冲突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620000" y="3835400"/>
            <a:ext cx="698500" cy="635"/>
          </a:xfrm>
          <a:prstGeom prst="line">
            <a:avLst/>
          </a:prstGeom>
          <a:ln w="25400">
            <a:solidFill>
              <a:srgbClr val="E1529B"/>
            </a:solidFill>
            <a:head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4572000" y="3238500"/>
            <a:ext cx="3048000" cy="1206500"/>
          </a:xfrm>
          <a:prstGeom prst="roundRect">
            <a:avLst/>
          </a:prstGeom>
          <a:solidFill>
            <a:srgbClr val="E1529B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更新事实快照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把本章造成的状态变化写回系统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873500" y="3835400"/>
            <a:ext cx="698500" cy="635"/>
          </a:xfrm>
          <a:prstGeom prst="line">
            <a:avLst/>
          </a:prstGeom>
          <a:ln w="25400">
            <a:solidFill>
              <a:srgbClr val="E1529B"/>
            </a:solidFill>
            <a:head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825500" y="3238500"/>
            <a:ext cx="3048000" cy="12065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下一章读取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下一章读取最新快照，而不是靠AI回忆上一章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25500" y="4889500"/>
            <a:ext cx="10541000" cy="95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关键交叉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任务包读取事实快照；变更声明更新事实快照；统一校验同时检查正文、规则和规划。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剧情为什么能千章不崩: 六把锁总览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每把锁专门防一种崩坏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460500"/>
            <a:ext cx="3302000" cy="1524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规则锁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防设定漂移：世界、角色、势力、位置、剧情不能随手改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45000" y="1460500"/>
            <a:ext cx="3302000" cy="15240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规划锁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防主线断裂：大纲、分卷、章节、蓝图逐级约束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191500" y="1460500"/>
            <a:ext cx="3302000" cy="15240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打包锁</a:t>
            </a:r>
            <a:endParaRPr lang="zh-CN" altLang="en-US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防旧设定进入：生成前先把最新数据编译给AI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3556000"/>
            <a:ext cx="3302000" cy="15240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引用锁</a:t>
            </a:r>
            <a:endParaRPr lang="zh-CN" altLang="en-US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防窗口爆炸：只给当前章节相关数据，不把全书乱塞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445000" y="3556000"/>
            <a:ext cx="3302000" cy="15240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门禁锁</a:t>
            </a:r>
            <a:endParaRPr lang="zh-CN" altLang="en-US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防错误落地：引用、状态、正文冲突会被拦截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191500" y="3556000"/>
            <a:ext cx="3302000" cy="1524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校验锁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防长期矛盾：整书可重跑校验，找出受影响章节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98500" y="5524500"/>
            <a:ext cx="10795000" cy="698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这些锁不是事后人工擦屁股，而是让AI必须在结构约束内写作。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支柱1: 五大规则锁住"什么不能乱写"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每类规则约束一类常见崩坏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460500"/>
            <a:ext cx="3302000" cy="1524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世界观规则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记录力量体系、科技规则、禁忌边界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防：主角突然突破世界规则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45000" y="1460500"/>
            <a:ext cx="3302000" cy="1524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角色规则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记录欲望、动机、能力、关系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防：角色性格前后漂移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191500" y="1460500"/>
            <a:ext cx="3302000" cy="1524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势力规则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记录组织立场、势力关系、利益冲突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防：阵营立场随意反复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3429000"/>
            <a:ext cx="3302000" cy="1524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位置规则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记录地点描述、连通关系、地点状态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防：地图和空间关系错乱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445000" y="3429000"/>
            <a:ext cx="3302000" cy="1524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剧情规则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记录主线阶段、触发条件、推进边界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防：主线跑偏和节奏失控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191500" y="3429000"/>
            <a:ext cx="3302000" cy="1524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共同点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这些不是提示词里的几句话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而是门禁和校验会读取的系统字段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98500" y="5334000"/>
            <a:ext cx="10795000" cy="8255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与普通AI对比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普通AI靠提示词临时提醒；天命把规则做成系统字段，生成、门禁、校验都会读取。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支柱2: 四层规划逐级收敛"该写什么"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从全书到场景，越往下越具体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89255" y="1460500"/>
            <a:ext cx="3048000" cy="3429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普通AI怎么做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用一段提示词描述全书；写到后面，骨架会被上下文稀释。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572000" y="1460500"/>
            <a:ext cx="3048000" cy="6350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大纲 · 全书方向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096000" y="2095500"/>
            <a:ext cx="635" cy="317500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4254500" y="2413000"/>
            <a:ext cx="3683000" cy="6350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分卷 · 阶段目标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096000" y="3048000"/>
            <a:ext cx="635" cy="317500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3937000" y="3365500"/>
            <a:ext cx="4318000" cy="635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 · 本章任务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096000" y="4000500"/>
            <a:ext cx="635" cy="317500"/>
          </a:xfrm>
          <a:prstGeom prst="line">
            <a:avLst/>
          </a:prstGeom>
          <a:ln w="25400">
            <a:solidFill>
              <a:srgbClr val="2BBE7E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3619500" y="4318000"/>
            <a:ext cx="4953000" cy="635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蓝图 · 场景执行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755380" y="1450340"/>
            <a:ext cx="3048000" cy="3429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天命怎么做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把骨架存进四层数据库；第300章生成时，AI直接读取第300章的明确任务。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524000" y="5461000"/>
            <a:ext cx="9144000" cy="6350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关键差异：普通AI的骨架在提示词里，天命的骨架在数据库里。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支柱3: 数据中心打包是"编译"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把分散数据变成AI可读取的数据快照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460500"/>
            <a:ext cx="5016500" cy="1587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普通AI工具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没有打包概念；每次靠手动复制设定；改了设定容易漏同步，AI可能看到旧文字。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477000" y="1460500"/>
            <a:ext cx="5016500" cy="1587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天命系统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把规则、规划、素材、历史编译成结构化数据；按章节生成AI该看的那一份。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16000" y="3619500"/>
            <a:ext cx="2286000" cy="7620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源数据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302000" y="4000500"/>
            <a:ext cx="889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4191000" y="3619500"/>
            <a:ext cx="2286000" cy="7620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打包预检</a:t>
            </a:r>
            <a:endParaRPr lang="zh-CN" altLang="en-US" sz="16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477000" y="4000500"/>
            <a:ext cx="889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7366000" y="3619500"/>
            <a:ext cx="2286000" cy="7620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完整性校验</a:t>
            </a:r>
            <a:endParaRPr lang="zh-CN" altLang="en-US" sz="16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9652000" y="4000500"/>
            <a:ext cx="889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9906000" y="3619500"/>
            <a:ext cx="1587500" cy="762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可读取数据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98500" y="4889500"/>
            <a:ext cx="10795000" cy="6985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打包结果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打包清单、指导文件、章节引用清单；这些是结构化数据，不是聊天上下文。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98500" y="5778500"/>
            <a:ext cx="10795000" cy="571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关键差异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设定修改后必须重新打包；否则AI看到的仍是修改前的数据。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支柱4: 章节引用清单按章定位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不是把全书都塞给AI，而是只给当前章该看的那一份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826000" y="1333500"/>
            <a:ext cx="2540000" cy="6350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正在生成：第87章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62000" y="2349500"/>
            <a:ext cx="4953000" cy="222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应该给AI看的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本卷设计、第87章规划与蓝图、出场角色、相关势力地点、本章伏笔、前一章摘要、相关历史片段。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477000" y="2349500"/>
            <a:ext cx="4953000" cy="222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不应该给AI看的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未出场角色、无关势力地点、还没埋下的伏笔、与本章无关的远古设定。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62000" y="5016500"/>
            <a:ext cx="10668000" cy="889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关键差异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普通AI把全书都塞进上下文，窗口爆炸或被截断；天命先按章节筛数据，AI再写正文。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支柱5之一: 事实快照是系统的长期记忆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15类结构化状态共同描述"当前剧情真实"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5500" y="1397000"/>
            <a:ext cx="10541000" cy="889000"/>
          </a:xfrm>
          <a:prstGeom prst="roundRect">
            <a:avLst/>
          </a:prstGeom>
          <a:solidFill>
            <a:srgbClr val="E1529B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事实快照是什么</a:t>
            </a:r>
            <a:endParaRPr lang="zh-CN" altLang="en-US" sz="20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每章结束后，系统把当前剧情真实状态写成字段；下一章直接读取字段，不靠AI回忆。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25500" y="2667000"/>
            <a:ext cx="2413000" cy="1333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角色状态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角色状态、描述、位置、物品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556000" y="2667000"/>
            <a:ext cx="2413000" cy="1333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剧情状态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冲突、伏笔、剧情节点、秘密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286500" y="2667000"/>
            <a:ext cx="2413000" cy="1333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世界状态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世界观约束、势力、地点描述、地点状态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017000" y="2667000"/>
            <a:ext cx="2349500" cy="1333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时间状态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时间线、承诺、倒计时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5500" y="4381500"/>
            <a:ext cx="10541000" cy="8890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具体例子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第86章：张三重伤住院 → 第87章：出院体力60% → 第88章：康复复出战斗。它是字段变化，不是文字回忆。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25500" y="5461000"/>
            <a:ext cx="10541000" cy="6985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关键差异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普通AI问“张三还在医院吗”要靠猜；天命直接读取角色状态字段。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支柱5之二: 章节变更声明 · AI必须说明本章改了什么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12类结构化变更，驱动事实快照更新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62000" y="1397000"/>
            <a:ext cx="3175000" cy="10795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AI输出正文</a:t>
            </a:r>
            <a:endParaRPr lang="zh-CN" altLang="en-US" sz="17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第87章正文写完后，不能只交一段文字。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937000" y="1930400"/>
            <a:ext cx="6985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635500" y="1397000"/>
            <a:ext cx="3175000" cy="1079500"/>
          </a:xfrm>
          <a:prstGeom prst="roundRect">
            <a:avLst/>
          </a:prstGeom>
          <a:solidFill>
            <a:srgbClr val="E1529B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同步说明变化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AI必须声明本章改变了哪些状态。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810500" y="1930400"/>
            <a:ext cx="6985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8509000" y="1397000"/>
            <a:ext cx="2921000" cy="10795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更新事实快照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系统据此刷新下一章可见状态。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223000" y="2476500"/>
            <a:ext cx="635" cy="317500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4191000" y="2730500"/>
            <a:ext cx="4064000" cy="4064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状态变化说明包含这四类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62000" y="3302000"/>
            <a:ext cx="2413000" cy="13335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②-1 角色相关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1926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角色状态变化 / 角色移动 / 物品转移</a:t>
            </a:r>
            <a:endParaRPr lang="zh-CN" altLang="en-US" sz="1200">
              <a:solidFill>
                <a:srgbClr val="1926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619500" y="3302000"/>
            <a:ext cx="2413000" cy="13335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②-2 剧情相关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1926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冲突推进 / 伏笔操作 / 新增剧情节点</a:t>
            </a:r>
            <a:endParaRPr lang="zh-CN" altLang="en-US" sz="1200">
              <a:solidFill>
                <a:srgbClr val="1926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477000" y="3302000"/>
            <a:ext cx="2413000" cy="1333500"/>
          </a:xfrm>
          <a:prstGeom prst="roundRect">
            <a:avLst/>
          </a:prstGeom>
          <a:solidFill>
            <a:srgbClr val="E1529B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②-3 世界相关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1926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地点状态变化 / 势力变化 / 秘密揭示</a:t>
            </a:r>
            <a:endParaRPr lang="zh-CN" altLang="en-US" sz="1200">
              <a:solidFill>
                <a:srgbClr val="1926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9334500" y="3302000"/>
            <a:ext cx="2413000" cy="1333500"/>
          </a:xfrm>
          <a:prstGeom prst="roundRect">
            <a:avLst/>
          </a:prstGeom>
          <a:solidFill>
            <a:srgbClr val="E1529B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②-4 时间约束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1926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时间推进 / 承诺约束 / 倒计时约束</a:t>
            </a:r>
            <a:endParaRPr lang="zh-CN" altLang="en-US" sz="1200">
              <a:solidFill>
                <a:srgbClr val="1926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62000" y="5016500"/>
            <a:ext cx="10668000" cy="95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与普通AI对比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普通AI写完一章就结束；天命要求“正文 + 状态变化说明”一起交付，因此下一章知道哪些事实已经改变。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支柱5之三: 生成门禁四道关卡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正文必须穿过四道门，才能落地存储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5500" y="1524000"/>
            <a:ext cx="2349500" cy="12700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30406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协议解析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先看字段是否完整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556000" y="1524000"/>
            <a:ext cx="2349500" cy="12700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引用校验</a:t>
            </a:r>
            <a:endParaRPr lang="zh-CN" altLang="en-US" sz="16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再看角色、地点、势力是否存在</a:t>
            </a:r>
            <a:endParaRPr lang="zh-CN" altLang="en-US" sz="12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286500" y="1524000"/>
            <a:ext cx="2349500" cy="12700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一致性校验</a:t>
            </a:r>
            <a:endParaRPr lang="zh-CN" altLang="en-US" sz="16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检查状态变化是否合理</a:t>
            </a:r>
            <a:endParaRPr lang="zh-CN" altLang="en-US" sz="12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9017000" y="1524000"/>
            <a:ext cx="2349500" cy="1270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正文检查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正文不能和规则、规划冲突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175000" y="2159000"/>
            <a:ext cx="381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905500" y="2159000"/>
            <a:ext cx="381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636000" y="2159000"/>
            <a:ext cx="381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96000" y="2794000"/>
            <a:ext cx="635" cy="279400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4000500" y="3022600"/>
            <a:ext cx="4191000" cy="4064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四道关卡会产生两类结果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25500" y="3619500"/>
            <a:ext cx="3175000" cy="114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任一关失败 →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不写入存储；提示问题；要求重写或调整规则。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508500" y="3619500"/>
            <a:ext cx="3175000" cy="114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四关全部通过 →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正文落地；变更声明进入跟踪；事实快照准备更新。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191500" y="3619500"/>
            <a:ext cx="3175000" cy="114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为什么要门禁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普通AI写错后继续写；天命尽量让错误不落地。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25500" y="5207000"/>
            <a:ext cx="10541000" cy="8255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具体场景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AI写“张三独闯火窟”，但角色规则写明“张三畏火” → 一致性校验失败 → 这一章不会带着错误进入第88章。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支柱5之四: 统一校验可以事后重跑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门禁是实时栏杆，统一校验是全身体检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397000"/>
            <a:ext cx="5207000" cy="2095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校验前置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已有打包数据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章节必须存在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章节引用清单可解析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指导文件未缺失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286500" y="1397000"/>
            <a:ext cx="5207000" cy="2095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校验范围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门禁层: 正文+变更声明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设定层: 世界观·角色·地点·势力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规划层: 大纲·分卷·章节·蓝图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事实层: 事实快照与正文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98500" y="3746500"/>
            <a:ext cx="11049000" cy="1206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一个具体例子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用户改了「张三」的能力规则 → 跑统一校验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系统列出受影响章节: 第45·87·123·201章存在与新规则冲突的描写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提示重新生成或人工修订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5143500"/>
            <a:ext cx="11049000" cy="9525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与普通AI对比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普通AI: 改完设定不知道哪些章节受影响 → 只能盲改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天命: 校验报告精确到章节号 → 修订有据可依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为什么写到第3000章依然连贯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系统循环更新事实，不是AI记住全文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62000" y="1460500"/>
            <a:ext cx="2667000" cy="10795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写前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读取五大规则、四层规划、事实快照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429000" y="2006600"/>
            <a:ext cx="762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191000" y="1460500"/>
            <a:ext cx="2667000" cy="10795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写中</a:t>
            </a:r>
            <a:endParaRPr lang="zh-CN" altLang="en-US" sz="17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数据中心生成本章任务包，AI只看本章相关数据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858000" y="2006600"/>
            <a:ext cx="762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7620000" y="1460500"/>
            <a:ext cx="3556000" cy="10795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输出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 + 章节变更声明一起输出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9398000" y="2540000"/>
            <a:ext cx="635" cy="571500"/>
          </a:xfrm>
          <a:prstGeom prst="line">
            <a:avLst/>
          </a:prstGeom>
          <a:ln w="25400">
            <a:solidFill>
              <a:srgbClr val="F2C94C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7620000" y="3111500"/>
            <a:ext cx="3556000" cy="10795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拦截</a:t>
            </a:r>
            <a:endParaRPr lang="zh-CN" altLang="en-US" sz="17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门禁和统一校验检查错误，失败不落地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858000" y="3657600"/>
            <a:ext cx="762000" cy="635"/>
          </a:xfrm>
          <a:prstGeom prst="line">
            <a:avLst/>
          </a:prstGeom>
          <a:ln w="25400">
            <a:solidFill>
              <a:srgbClr val="E1529B"/>
            </a:solidFill>
            <a:head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4191000" y="3111500"/>
            <a:ext cx="2667000" cy="1079500"/>
          </a:xfrm>
          <a:prstGeom prst="roundRect">
            <a:avLst/>
          </a:prstGeom>
          <a:solidFill>
            <a:srgbClr val="E1529B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回写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通过后更新事实快照和长距召回归档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429000" y="3657600"/>
            <a:ext cx="762000" cy="635"/>
          </a:xfrm>
          <a:prstGeom prst="line">
            <a:avLst/>
          </a:prstGeom>
          <a:ln w="25400">
            <a:solidFill>
              <a:srgbClr val="E1529B"/>
            </a:solidFill>
            <a:head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762000" y="3111500"/>
            <a:ext cx="2667000" cy="10795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下一章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读取最新状态，继续进入下一轮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62000" y="4635500"/>
            <a:ext cx="10414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关键：这是闭环，不是流水线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第3001章看到的是第3000章落地后写入的真实字段值，而不是模型模糊回忆。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62000" y="5524500"/>
            <a:ext cx="10414000" cy="6985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与上下文模型对比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上下文模型越塞越乱；天命用事实快照和长距召回按相关性取用历史。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一个具体例子: 点击"生成第300章"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看真实数据如何流动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826000" y="1333500"/>
            <a:ext cx="2540000" cy="5715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点击生成 第300章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25500" y="2286000"/>
            <a:ext cx="3048000" cy="12700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写前读取</a:t>
            </a:r>
            <a:endParaRPr lang="zh-CN" altLang="en-US" sz="17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定位第3卷第300章；读取章节清单和第299章末事实状态。</a:t>
            </a:r>
            <a:endParaRPr lang="zh-CN" altLang="en-US" sz="13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873500" y="2921000"/>
            <a:ext cx="762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4635500" y="2286000"/>
            <a:ext cx="3048000" cy="1270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AI写作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系统组装任务包交给AI；AI输出正文和章节变更声明。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683500" y="2921000"/>
            <a:ext cx="762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45500" y="2286000"/>
            <a:ext cx="3048000" cy="1270000"/>
          </a:xfrm>
          <a:prstGeom prst="roundRect">
            <a:avLst/>
          </a:prstGeom>
          <a:solidFill>
            <a:srgbClr val="E1529B"/>
          </a:solidFill>
          <a:ln w="15240">
            <a:solidFill>
              <a:srgbClr val="E152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7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写后回写</a:t>
            </a:r>
            <a:endParaRPr lang="zh-CN" altLang="en-US" sz="17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通过门禁后正文落地；事实快照更新给第301章。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159500" y="3556000"/>
            <a:ext cx="635" cy="292100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4000500" y="3810000"/>
            <a:ext cx="4191000" cy="4064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下方解释：这条流程为什么形成闭环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25500" y="4445000"/>
            <a:ext cx="5080000" cy="114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对应上方：写后回写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第300章消费第299章状态，也生产第301章要读取的状态。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413500" y="4445000"/>
            <a:ext cx="5080000" cy="114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对比上方：普通AI缺少回写</a:t>
            </a:r>
            <a:endParaRPr lang="zh-CN" altLang="en-US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第300章只能看上下文窗口里残留的近几章，越早的内容越模糊。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25500" y="5842000"/>
            <a:ext cx="10668000" cy="5715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关键观察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连贯不是靠模型记忆，而是靠每章生成后的状态回写。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跨千章的回忆怎么办: 长距召回片段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不是模型记忆，是系统按相关性挑选历史切片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397000"/>
            <a:ext cx="5207000" cy="222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普通AI做法的问题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全文塞进上下文 → 窗口爆炸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只靠摘要 → 细节丢失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只靠模型记忆 → 不可控、不稳定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例: 第500章想呼应第30章伏笔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模型早就忘了第30章的细节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286500" y="1397000"/>
            <a:ext cx="5207000" cy="222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天命的处理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历史里程碑归档关键事件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长距召回片段按本章相关性挑选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伏笔状态由事实快照持续追踪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例: 第500章生成时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系统自动召回第30章伏笔片段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98500" y="3810000"/>
            <a:ext cx="10795000" cy="12065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具体场景: 第500章呼应第30章埋下的「假死真相」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系统从历史里程碑找出第30章相关片段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事实快照中「假死真相」伏笔状态: 已埋·未收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第30章正文摘要 → 全部组装进第500章的章节引用清单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5207000"/>
            <a:ext cx="10795000" cy="9525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关键观察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伏笔不会被遗忘 — 因为它是字段状态，不是靠AI「想起来」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模型可以失忆，系统不会失忆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纯上下文为什么崩，天命为什么不崩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一张表看懂差异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371600"/>
            <a:ext cx="3048000" cy="457200"/>
          </a:xfrm>
          <a:prstGeom prst="roundRect">
            <a:avLst/>
          </a:prstGeom>
          <a:solidFill>
            <a:srgbClr val="30406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常见崩坏现象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810000" y="1371600"/>
            <a:ext cx="4000500" cy="457200"/>
          </a:xfrm>
          <a:prstGeom prst="roundRect">
            <a:avLst/>
          </a:prstGeom>
          <a:solidFill>
            <a:srgbClr val="E85C5C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纯上下文方式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874000" y="1371600"/>
            <a:ext cx="3810000" cy="4572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3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天命方式</a:t>
            </a:r>
            <a:endParaRPr lang="zh-CN" altLang="en-US" sz="13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1892300"/>
            <a:ext cx="3048000" cy="5842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上下文越来越长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810000" y="1892300"/>
            <a:ext cx="40005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超窗截断 早期内容遗忘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874000" y="1892300"/>
            <a:ext cx="38100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结构化数据 按章节调用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98500" y="2514600"/>
            <a:ext cx="3048000" cy="5842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角色性格漂移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810000" y="2514600"/>
            <a:ext cx="40005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设定被稀释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874000" y="2514600"/>
            <a:ext cx="38100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角色规则字段强约束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98500" y="3136900"/>
            <a:ext cx="3048000" cy="5842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伏笔忘了回收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810000" y="3136900"/>
            <a:ext cx="40005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无状态追踪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874000" y="3136900"/>
            <a:ext cx="38100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伏笔状态字段持续追踪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98500" y="3759200"/>
            <a:ext cx="3048000" cy="5842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硬规则被打破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810000" y="3759200"/>
            <a:ext cx="40005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提示词没强调就失效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874000" y="3759200"/>
            <a:ext cx="38100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五大规则参与门禁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98500" y="4381500"/>
            <a:ext cx="3048000" cy="5842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角色位置混乱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10000" y="4381500"/>
            <a:ext cx="40005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没有位置状态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7874000" y="4381500"/>
            <a:ext cx="38100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角色位置字段持续更新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98500" y="5003800"/>
            <a:ext cx="3048000" cy="5842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写错后继续往下写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3810000" y="5003800"/>
            <a:ext cx="40005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靠人工事后发现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7874000" y="5003800"/>
            <a:ext cx="38100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门禁不通过不落地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98500" y="5626100"/>
            <a:ext cx="3048000" cy="5842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设定修改漏同步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810000" y="5626100"/>
            <a:ext cx="40005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没有重打包概念</a:t>
            </a:r>
            <a:endParaRPr lang="zh-CN" altLang="en-US" sz="12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7874000" y="5626100"/>
            <a:ext cx="3810000" cy="5842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重新打包刷新AI可见数据</a:t>
            </a:r>
            <a:endParaRPr lang="zh-CN" altLang="en-US" sz="1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从用户角度看: 每个模块回答一个问题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不要让用户背模块名，要让用户理解问题链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397000"/>
            <a:ext cx="3429000" cy="1016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3345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拆书提炼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我有什么参考资料？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318000" y="1397000"/>
            <a:ext cx="3429000" cy="1016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3345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创意素材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我要借用什么技法？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937500" y="1397000"/>
            <a:ext cx="3429000" cy="1016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五大规则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这个世界哪些事不能乱写？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2603500"/>
            <a:ext cx="3429000" cy="1016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大纲·分卷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全书怎么推进？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318000" y="2603500"/>
            <a:ext cx="3429000" cy="10160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4A90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章节·蓝图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这一章具体做什么？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937500" y="2603500"/>
            <a:ext cx="3429000" cy="1016000"/>
          </a:xfrm>
          <a:prstGeom prst="roundRect">
            <a:avLst/>
          </a:prstGeom>
          <a:solidFill>
            <a:srgbClr val="F5A23D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数据中心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AI能看到哪份数据？</a:t>
            </a:r>
            <a:endParaRPr lang="zh-CN" altLang="en-US" sz="12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98500" y="3810000"/>
            <a:ext cx="3429000" cy="1016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创作台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正文怎么落地？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318000" y="3810000"/>
            <a:ext cx="3429000" cy="1016000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生成门禁</a:t>
            </a:r>
            <a:endParaRPr lang="zh-CN" altLang="en-US" sz="1500" b="1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0A111F"/>
                </a:solidFill>
                <a:latin typeface="微软雅黑" panose="020B0503020204020204" charset="-122"/>
                <a:ea typeface="微软雅黑" panose="020B0503020204020204" charset="-122"/>
              </a:rPr>
              <a:t>这次写得是否合格？</a:t>
            </a:r>
            <a:endParaRPr lang="zh-CN" altLang="en-US" sz="1200">
              <a:solidFill>
                <a:srgbClr val="0A1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937500" y="3810000"/>
            <a:ext cx="3429000" cy="1016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统一校验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整体是否还有矛盾？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98500" y="5270500"/>
            <a:ext cx="11049000" cy="825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5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关键观察</a:t>
            </a:r>
            <a:endParaRPr lang="zh-CN" altLang="en-US" sz="15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每个问题缺答案，AI就多一块自由发挥空间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系统的价值就是补齐这些答案 — 答案不是文字提示，是字段数据</a:t>
            </a:r>
            <a:endParaRPr lang="zh-CN" altLang="en-US" sz="12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从零到第一章: 最短闭环九步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每一步都让故事更结构化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5500" y="1524000"/>
            <a:ext cx="3175000" cy="2413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阶段一：准备数据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配置AI模型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拆书提炼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生成创意素材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000500" y="2730500"/>
            <a:ext cx="508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508500" y="1524000"/>
            <a:ext cx="3175000" cy="2413000"/>
          </a:xfrm>
          <a:prstGeom prst="roundRect">
            <a:avLst/>
          </a:prstGeom>
          <a:solidFill>
            <a:srgbClr val="8B66E6"/>
          </a:solidFill>
          <a:ln w="15240">
            <a:solidFill>
              <a:srgbClr val="8B6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阶段二：建立骨架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生成五大规则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生成大纲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生成分卷、章节、蓝图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683500" y="2730500"/>
            <a:ext cx="508000" cy="635"/>
          </a:xfrm>
          <a:prstGeom prst="line">
            <a:avLst/>
          </a:prstGeom>
          <a:ln w="25400">
            <a:solidFill>
              <a:srgbClr val="4A90E2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8191500" y="1524000"/>
            <a:ext cx="3175000" cy="2413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阶段三：生成闭环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 数据中心打包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⑧ 生成第一章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⑨ 统一校验修正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5500" y="4445000"/>
            <a:ext cx="10541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关键观察 1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前6步不是“形式流程”，而是在为AI建立可读取、可校验、可追踪的数据基础。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25500" y="5397500"/>
            <a:ext cx="10541000" cy="762000"/>
          </a:xfrm>
          <a:prstGeom prst="roundRect">
            <a:avLst/>
          </a:prstGeom>
          <a:solidFill>
            <a:srgbClr val="19263E"/>
          </a:solidFill>
          <a:ln w="15240">
            <a:solidFill>
              <a:srgbClr val="F2C9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16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关键观察 2</a:t>
            </a:r>
            <a:endParaRPr lang="zh-CN" altLang="en-US" sz="16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3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第一章生成后必须校验；设定调整后必须重新打包，否则下一章读取的数据不可靠。</a:t>
            </a:r>
            <a:endParaRPr lang="zh-CN" altLang="en-US" sz="13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一页讲清天命的差异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不是"更智能"，而是"更可控"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500" y="13970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普通软件保存文字</a:t>
            </a:r>
            <a:endParaRPr lang="zh-CN" altLang="en-US" sz="1400" b="1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2000" y="1587500"/>
            <a:ext cx="635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200" b="1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altLang="en-US" sz="2200" b="1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667500" y="13970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天命管理整本书的状态</a:t>
            </a:r>
            <a:endParaRPr lang="zh-CN" altLang="en-US" sz="14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98500" y="23114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普通AI生成一段</a:t>
            </a:r>
            <a:endParaRPr lang="zh-CN" altLang="en-US" sz="1400" b="1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42000" y="2501900"/>
            <a:ext cx="635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200" b="1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altLang="en-US" sz="2200" b="1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667500" y="23114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天命: 生成·门禁·校验·归档一整章</a:t>
            </a:r>
            <a:endParaRPr lang="zh-CN" altLang="en-US" sz="14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98500" y="32258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普通上下文越塞越乱</a:t>
            </a:r>
            <a:endParaRPr lang="zh-CN" altLang="en-US" sz="1400" b="1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42000" y="3416300"/>
            <a:ext cx="635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200" b="1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altLang="en-US" sz="2200" b="1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667500" y="32258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天命按章节精准引用</a:t>
            </a:r>
            <a:endParaRPr lang="zh-CN" altLang="en-US" sz="14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98500" y="41402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普通生成错了靠人发现</a:t>
            </a:r>
            <a:endParaRPr lang="zh-CN" altLang="en-US" sz="1400" b="1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42000" y="4330700"/>
            <a:ext cx="635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200" b="1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altLang="en-US" sz="2200" b="1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667500" y="41402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天命让错误尽量不落地</a:t>
            </a:r>
            <a:endParaRPr lang="zh-CN" altLang="en-US" sz="14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98500" y="50546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E85C5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普通设定修改难同步</a:t>
            </a:r>
            <a:endParaRPr lang="zh-CN" altLang="en-US" sz="1400" b="1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842000" y="5245100"/>
            <a:ext cx="635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200" b="1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altLang="en-US" sz="2200" b="1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667500" y="5054600"/>
            <a:ext cx="4826000" cy="7620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p>
            <a:pPr algn="ctr"/>
            <a:r>
              <a:rPr lang="zh-CN" altLang="en-US" sz="14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天命重新打包刷新AI可见数据</a:t>
            </a:r>
            <a:endParaRPr lang="zh-CN" altLang="en-US" sz="14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794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9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总结: 差异不在功能多，而在闭环强</a:t>
            </a:r>
            <a:endParaRPr lang="zh-CN" altLang="en-US" sz="19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600" y="673100"/>
            <a:ext cx="7620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l"/>
            <a:r>
              <a:rPr lang="zh-CN" altLang="en-US" sz="11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</a:rPr>
              <a:t>文本生成只是其中一步</a:t>
            </a:r>
            <a:endParaRPr lang="zh-CN" altLang="en-US" sz="11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041400"/>
            <a:ext cx="11226800" cy="254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0" y="330200"/>
            <a:ext cx="279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功能区别 · 讲解资料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6527800"/>
            <a:ext cx="10922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900">
                <a:solidFill>
                  <a:srgbClr val="82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系统负责长期记忆与结构校验，AI只在被约束的数据包内写作</a:t>
            </a:r>
            <a:endParaRPr lang="zh-CN" altLang="en-US" sz="900">
              <a:solidFill>
                <a:srgbClr val="82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16000" y="1460500"/>
            <a:ext cx="10160000" cy="95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4D62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普通写作软件</a:t>
            </a:r>
            <a:endParaRPr lang="zh-CN" altLang="en-US" sz="2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</a:rPr>
              <a:t>管理文本</a:t>
            </a:r>
            <a:endParaRPr lang="zh-CN" altLang="en-US" sz="14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096000" y="2476500"/>
            <a:ext cx="635" cy="254000"/>
          </a:xfrm>
          <a:prstGeom prst="line">
            <a:avLst/>
          </a:prstGeom>
          <a:ln w="25400">
            <a:solidFill>
              <a:srgbClr val="F5A23D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1016000" y="2794000"/>
            <a:ext cx="10160000" cy="952500"/>
          </a:xfrm>
          <a:prstGeom prst="roundRect">
            <a:avLst/>
          </a:prstGeom>
          <a:solidFill>
            <a:srgbClr val="233452"/>
          </a:solidFill>
          <a:ln w="15240">
            <a:solidFill>
              <a:srgbClr val="F5A2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普通AI写作工具</a:t>
            </a:r>
            <a:endParaRPr lang="zh-CN" altLang="en-US" sz="2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生成文本</a:t>
            </a:r>
            <a:endParaRPr lang="zh-CN" altLang="en-US" sz="14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096000" y="3810000"/>
            <a:ext cx="635" cy="254000"/>
          </a:xfrm>
          <a:prstGeom prst="line">
            <a:avLst/>
          </a:prstGeom>
          <a:ln w="25400">
            <a:solidFill>
              <a:srgbClr val="F5A23D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1016000" y="4127500"/>
            <a:ext cx="10160000" cy="1397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>
              <a:spcAft>
                <a:spcPts val="600"/>
              </a:spcAft>
            </a:pPr>
            <a:r>
              <a:rPr lang="zh-CN" altLang="en-US" sz="22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天命系统</a:t>
            </a:r>
            <a:endParaRPr lang="zh-CN" altLang="en-US" sz="22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管理一整本书的</a:t>
            </a:r>
            <a:endParaRPr lang="zh-CN" altLang="en-US" sz="14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可生成 · 可校验 · 可追踪 · 可重打包 的创作过程</a:t>
            </a:r>
            <a:endParaRPr lang="zh-CN" altLang="en-US" sz="1400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5842000"/>
            <a:ext cx="10668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1600" b="1">
                <a:solidFill>
                  <a:srgbClr val="F2C94C"/>
                </a:solidFill>
                <a:latin typeface="微软雅黑" panose="020B0503020204020204" charset="-122"/>
                <a:ea typeface="微软雅黑" panose="020B0503020204020204" charset="-122"/>
              </a:rPr>
              <a:t>这就是千章万章仍能保持连贯的原因</a:t>
            </a:r>
            <a:endParaRPr lang="zh-CN" altLang="en-US" sz="1600" b="1">
              <a:solidFill>
                <a:srgbClr val="F2C9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4A90E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89000" y="1651000"/>
            <a:ext cx="1041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3000" b="1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AI不会天然记得一本千万字小说</a:t>
            </a:r>
            <a:endParaRPr lang="zh-CN" altLang="en-US" sz="3000" b="1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07000" y="2540000"/>
            <a:ext cx="1778000" cy="50800"/>
          </a:xfrm>
          <a:prstGeom prst="rect">
            <a:avLst/>
          </a:prstGeom>
          <a:solidFill>
            <a:srgbClr val="F5A23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9000" y="2921000"/>
            <a:ext cx="1041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20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所以天命做的事情是</a:t>
            </a:r>
            <a:endParaRPr lang="zh-CN" altLang="en-US" sz="20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016000" y="3556000"/>
            <a:ext cx="10160000" cy="1270000"/>
          </a:xfrm>
          <a:prstGeom prst="roundRect">
            <a:avLst/>
          </a:prstGeom>
          <a:solidFill>
            <a:srgbClr val="2BBE7E"/>
          </a:solidFill>
          <a:ln w="15240">
            <a:solidFill>
              <a:srgbClr val="2BB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52400" tIns="127000" rIns="152400" bIns="127000" rtlCol="0" anchor="ctr">
            <a:noAutofit/>
          </a:bodyPr>
          <a:p>
            <a:pPr algn="ctr"/>
            <a:r>
              <a:rPr lang="zh-CN" altLang="en-US" sz="2800" b="1">
                <a:solidFill>
                  <a:srgbClr val="F5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把故事变成系统能管理的数据 · 让AI按数据写作</a:t>
            </a:r>
            <a:endParaRPr lang="zh-CN" altLang="en-US" sz="2800" b="1">
              <a:solidFill>
                <a:srgbClr val="F5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5207000"/>
            <a:ext cx="10414000" cy="327660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noAutofit/>
          </a:bodyPr>
          <a:p>
            <a:pPr algn="ctr"/>
            <a:r>
              <a:rPr lang="zh-CN" altLang="en-US" sz="1600">
                <a:solidFill>
                  <a:srgbClr val="AFBCD2"/>
                </a:solidFill>
                <a:latin typeface="微软雅黑" panose="020B0503020204020204" charset="-122"/>
                <a:ea typeface="微软雅黑" panose="020B0503020204020204" charset="-122"/>
              </a:rPr>
              <a:t>这就是天命和其他写作工具的根本区别</a:t>
            </a:r>
            <a:endParaRPr lang="zh-CN" altLang="en-US" sz="1600">
              <a:solidFill>
                <a:srgbClr val="AFBC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6120</Words>
  <Application>WPS 演示</Application>
  <PresentationFormat>宽屏</PresentationFormat>
  <Paragraphs>770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Calibri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金山软件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wps</cp:lastModifiedBy>
  <cp:revision>5</cp:revision>
  <dcterms:created xsi:type="dcterms:W3CDTF">2023-07-11T07:43:00Z</dcterms:created>
  <dcterms:modified xsi:type="dcterms:W3CDTF">2026-05-06T04:03:13Z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2052-12.8.2.15091</vt:lpwstr>
  </property>
  <property fmtid="{D5CDD505-2E9C-101B-9397-08002B2CF9AE}" pid="3" name="ICV">
    <vt:lpwstr>D347456577374636B126CFE50FCC3FF5_11</vt:lpwstr>
  </property>
</Properties>
</file>